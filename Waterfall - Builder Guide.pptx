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73"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6CCD9E1-DFE0-3376-7709-DAD923044B71}">
          <p14:sldIdLst>
            <p14:sldId id="256"/>
            <p14:sldId id="257"/>
          </p14:sldIdLst>
        </p14:section>
        <p14:section name="Set up" id="{579477B1-A8D4-2F5F-51AB-18859E6FD2BC}">
          <p14:sldIdLst>
            <p14:sldId id="258"/>
            <p14:sldId id="273"/>
            <p14:sldId id="260"/>
            <p14:sldId id="261"/>
          </p14:sldIdLst>
        </p14:section>
        <p14:section name="Format the chart" id="{071B120F-0695-5B98-D12E-70D131338EA0}">
          <p14:sldIdLst>
            <p14:sldId id="262"/>
            <p14:sldId id="263"/>
            <p14:sldId id="264"/>
            <p14:sldId id="265"/>
            <p14:sldId id="266"/>
            <p14:sldId id="267"/>
            <p14:sldId id="268"/>
            <p14:sldId id="269"/>
            <p14:sldId id="270"/>
          </p14:sldIdLst>
        </p14:section>
        <p14:section name="Troubleshooting" id="{D02D3EB9-E01C-B327-93AE-195DF02E2133}">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188"/>
    <p:restoredTop sz="94610"/>
  </p:normalViewPr>
  <p:slideViewPr>
    <p:cSldViewPr snapToGrid="0" snapToObjects="1">
      <p:cViewPr varScale="1">
        <p:scale>
          <a:sx n="243" d="100"/>
          <a:sy n="243" d="100"/>
        </p:scale>
        <p:origin x="216" y="5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77470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is for people who build Tableau dashboards. It covers adding the Waterfall extension, which measures go on which tile, the right-click and Format options, and what to do when the chart doesn’t look right.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parts. Every bar shows its value on top, and connector lines link each bar to the next. The clipped marker appears when the axis does not start at zero, so the Start and End bars are drawn shorter than their true length.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shipped manifest loads the chart from GitHub Pages. If your Tableau Server cannot reach the internet, your admin hosts a copy internally and gives you a manifest that points to it. The local dev preview at localhost:8767/dev/preview.html shows the chart with sample data, without Tableau.</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 organisation publishes the extension on Tableau Server, Add Extension may list it directly. Otherwise use Access Local Extensions and pick the .trex file. If you are given a new .trex later, remove the extension and add it again: Tableau reads the manifest only when it is added.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Measures are green pills, the breakdown dimension is a blue pill. If Tableau turns the changes into Measure Names and Measure Values, the extension pivots them back, so there is nothing to fix.</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Change-bar settings are stored per measure, by the pill’s name, for example SUM(Bank In). Renaming or swapping that measure starts its bar from the defaults.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Viz extensions can’t add entries to Tableau’s own right-click menu, so the chart draws its own menu when you right-click a bar. It can be turned off in Bars, All bars, Right-click menu.</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bar picker at the top lists every bar by its label. Double-clicking a bar in the chart opens this tab with that bar already picked.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Segments are named like "Current · Retail". Values of unticked dimensions are added together. Each segment can show its value and name, inside or beside the bar, and small segments can hide their labels.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lines sit below the bar labels. Shading behind the bars is off by default; turn it on to make the groups stand out further.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to the data, the Figma default, starts the axis a little below the lowest running total, rounded to a tick. Room below sets how much space to leave, as a share of the data range.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formats are the same as in the KPI Card: K, M, B, Dynamic, full number, Percentage, Percentage dynamic and workbook format. Copy this format to every label resets all per-label formats to the shared one.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connector lines on: they show where each bar starts. Turn the zero line on whenever values can go negative.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Icon, Title &amp; text and Card tabs work exactly as in the KPI Card extension, so dashboards that use both look consistent. The background is transparent by default.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End check catches data problems: if the End measure doesn’t equal Start plus all the changes, the tooltip on the End bar shows by how much.</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issues come from how the measures are dropped: each change needs its own pill on the Changes tile.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Publish when you’re done: every setting is saved in the workbook. On Tableau Server the extension’s URL must be on the safe list for viewers to see the chart.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417320"/>
            <a:ext cx="4480560" cy="118872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548640" y="2697480"/>
            <a:ext cx="4297680" cy="914400"/>
          </a:xfrm>
          <a:prstGeom prst="rect">
            <a:avLst/>
          </a:prstGeom>
          <a:noFill/>
          <a:ln/>
        </p:spPr>
        <p:txBody>
          <a:bodyPr wrap="square" rtlCol="0"/>
          <a:lstStyle>
            <a:lvl1pPr marL="0" indent="0">
              <a:buNone/>
              <a:defRPr lang="en-US" sz="1800" dirty="0">
                <a:solidFill>
                  <a:schemeClr val="accent5"/>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046720" cy="73152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3" name="Text 0"/>
          <p:cNvSpPr/>
          <p:nvPr/>
        </p:nvSpPr>
        <p:spPr>
          <a:xfrm>
            <a:off x="457200" y="4754880"/>
            <a:ext cx="5486400" cy="228600"/>
          </a:xfrm>
          <a:prstGeom prst="rect">
            <a:avLst/>
          </a:prstGeom>
          <a:noFill/>
          <a:ln/>
        </p:spPr>
        <p:txBody>
          <a:bodyPr wrap="square" lIns="0" tIns="0" rIns="0" bIns="0" rtlCol="0" anchor="ctr"/>
          <a:lstStyle/>
          <a:p>
            <a:pPr marL="0" indent="0">
              <a:buNone/>
            </a:pPr>
            <a:r>
              <a:rPr lang="en-US" sz="900" dirty="0">
                <a:solidFill>
                  <a:schemeClr val="tx2"/>
                </a:solidFill>
              </a:rPr>
              <a:t>Waterfall for Tableau  ·  Builder guide</a:t>
            </a:r>
            <a:endParaRPr lang="en-US" sz="9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417320"/>
            <a:ext cx="4480560" cy="1188720"/>
          </a:xfrm>
          <a:prstGeom prst="rect">
            <a:avLst/>
          </a:prstGeom>
          <a:noFill/>
          <a:ln/>
        </p:spPr>
        <p:txBody>
          <a:bodyPr wrap="square" lIns="0" tIns="0" rIns="0" bIns="0" rtlCol="0" anchor="b"/>
          <a:lstStyle/>
          <a:p>
            <a:pPr marL="0" indent="0" algn="l">
              <a:buNone/>
            </a:pPr>
            <a:r>
              <a:rPr lang="en-US" sz="4000" b="1" dirty="0">
                <a:solidFill>
                  <a:schemeClr val="bg1"/>
                </a:solidFill>
              </a:rPr>
              <a:t>Waterfall for Tableau</a:t>
            </a:r>
            <a:endParaRPr lang="en-US" sz="4000" dirty="0"/>
          </a:p>
        </p:txBody>
      </p:sp>
      <p:sp>
        <p:nvSpPr>
          <p:cNvPr id="3" name="Text 0"/>
          <p:cNvSpPr>
            <a:spLocks noGrp="1"/>
          </p:cNvSpPr>
          <p:nvPr>
            <p:ph type="body" idx="101" hasCustomPrompt="1"/>
          </p:nvPr>
        </p:nvSpPr>
        <p:spPr>
          <a:xfrm>
            <a:off x="548640" y="2697480"/>
            <a:ext cx="4297680" cy="914400"/>
          </a:xfrm>
          <a:prstGeom prst="rect">
            <a:avLst/>
          </a:prstGeom>
          <a:noFill/>
          <a:ln/>
        </p:spPr>
        <p:txBody>
          <a:bodyPr wrap="square" lIns="0" tIns="0" rIns="0" bIns="0" rtlCol="0" anchor="t"/>
          <a:lstStyle/>
          <a:p>
            <a:pPr marL="0" indent="0">
              <a:buNone/>
            </a:pPr>
            <a:r>
              <a:rPr lang="en-US" sz="1800" dirty="0">
                <a:solidFill>
                  <a:schemeClr val="accent5"/>
                </a:solidFill>
              </a:rPr>
              <a:t>Builder guide: add the extension, drop your measures and format every bar, group and label</a:t>
            </a:r>
            <a:endParaRPr lang="en-US" sz="1800" dirty="0"/>
          </a:p>
        </p:txBody>
      </p:sp>
      <p:sp>
        <p:nvSpPr>
          <p:cNvPr id="4" name="byline"/>
          <p:cNvSpPr txBox="1"/>
          <p:nvPr/>
        </p:nvSpPr>
        <p:spPr>
          <a:xfrm>
            <a:off x="548640" y="4251960"/>
            <a:ext cx="4114800" cy="274320"/>
          </a:xfrm>
          <a:prstGeom prst="rect">
            <a:avLst/>
          </a:prstGeom>
          <a:noFill/>
          <a:ln/>
        </p:spPr>
        <p:txBody>
          <a:bodyPr wrap="square" lIns="0" tIns="0" rIns="0" bIns="0" rtlCol="0" anchor="ctr"/>
          <a:lstStyle/>
          <a:p>
            <a:pPr marL="0" indent="0">
              <a:buNone/>
            </a:pPr>
            <a:r>
              <a:rPr lang="en-US" sz="1200" dirty="0">
                <a:solidFill>
                  <a:schemeClr val="accent5"/>
                </a:solidFill>
              </a:rPr>
              <a:t>ilyas coban</a:t>
            </a:r>
            <a:endParaRPr lang="en-US" sz="1200" dirty="0"/>
          </a:p>
        </p:txBody>
      </p:sp>
      <p:sp>
        <p:nvSpPr>
          <p:cNvPr id="5" name="Hero chart frame"/>
          <p:cNvSpPr/>
          <p:nvPr/>
        </p:nvSpPr>
        <p:spPr>
          <a:xfrm>
            <a:off x="5340096" y="1362456"/>
            <a:ext cx="3401568" cy="1792224"/>
          </a:xfrm>
          <a:prstGeom prst="roundRect">
            <a:avLst>
              <a:gd name="adj" fmla="val 4082"/>
            </a:avLst>
          </a:prstGeom>
          <a:solidFill>
            <a:schemeClr val="bg1"/>
          </a:solidFill>
          <a:ln w="9525">
            <a:solidFill>
              <a:schemeClr val="accent5"/>
            </a:solidFill>
            <a:prstDash val="solid"/>
          </a:ln>
          <a:effectLst>
            <a:outerShdw blurRad="101600" dist="25400" dir="5400000" algn="bl" rotWithShape="0">
              <a:srgbClr val="000000">
                <a:alpha val="16000"/>
              </a:srgbClr>
            </a:outerShdw>
          </a:effectLst>
        </p:spPr>
        <p:txBody>
          <a:bodyPr/>
          <a:lstStyle/>
          <a:p>
            <a:endParaRPr lang="en-US"/>
          </a:p>
        </p:txBody>
      </p:sp>
      <p:pic>
        <p:nvPicPr>
          <p:cNvPr id="6" name="Hero chart" descr="Waterfall example: Hero chart"/>
          <p:cNvPicPr>
            <a:picLocks noChangeAspect="1"/>
          </p:cNvPicPr>
          <p:nvPr/>
        </p:nvPicPr>
        <p:blipFill>
          <a:blip r:embed="rId3"/>
          <a:stretch>
            <a:fillRect/>
          </a:stretch>
        </p:blipFill>
        <p:spPr>
          <a:xfrm>
            <a:off x="5394960" y="1417320"/>
            <a:ext cx="3291840" cy="168249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What the chart shows</a:t>
            </a:r>
            <a:endParaRPr lang="en-US" sz="3000" dirty="0"/>
          </a:p>
        </p:txBody>
      </p:sp>
      <p:sp>
        <p:nvSpPr>
          <p:cNvPr id="3" name="Annotated chart frame"/>
          <p:cNvSpPr/>
          <p:nvPr/>
        </p:nvSpPr>
        <p:spPr>
          <a:xfrm>
            <a:off x="402336" y="1362456"/>
            <a:ext cx="5504688" cy="2867152"/>
          </a:xfrm>
          <a:prstGeom prst="roundRect">
            <a:avLst>
              <a:gd name="adj" fmla="val 2551"/>
            </a:avLst>
          </a:prstGeom>
          <a:solidFill>
            <a:schemeClr val="bg1"/>
          </a:solidFill>
          <a:ln w="9525">
            <a:solidFill>
              <a:schemeClr val="accent5"/>
            </a:solidFill>
            <a:prstDash val="solid"/>
          </a:ln>
          <a:effectLst>
            <a:outerShdw blurRad="101600" dist="25400" dir="5400000" algn="bl" rotWithShape="0">
              <a:srgbClr val="000000">
                <a:alpha val="16000"/>
              </a:srgbClr>
            </a:outerShdw>
          </a:effectLst>
        </p:spPr>
        <p:txBody>
          <a:bodyPr/>
          <a:lstStyle/>
          <a:p>
            <a:endParaRPr lang="en-US"/>
          </a:p>
        </p:txBody>
      </p:sp>
      <p:pic>
        <p:nvPicPr>
          <p:cNvPr id="4" name="Annotated chart" descr="Waterfall example: Annotated chart"/>
          <p:cNvPicPr>
            <a:picLocks noChangeAspect="1"/>
          </p:cNvPicPr>
          <p:nvPr/>
        </p:nvPicPr>
        <p:blipFill>
          <a:blip r:embed="rId3"/>
          <a:stretch>
            <a:fillRect/>
          </a:stretch>
        </p:blipFill>
        <p:spPr>
          <a:xfrm>
            <a:off x="457200" y="1417320"/>
            <a:ext cx="5394960" cy="2757424"/>
          </a:xfrm>
          <a:prstGeom prst="rect">
            <a:avLst/>
          </a:prstGeom>
        </p:spPr>
      </p:pic>
      <p:sp>
        <p:nvSpPr>
          <p:cNvPr id="5" name="step 1"/>
          <p:cNvSpPr/>
          <p:nvPr/>
        </p:nvSpPr>
        <p:spPr>
          <a:xfrm>
            <a:off x="1797812" y="1469136"/>
            <a:ext cx="256032" cy="256032"/>
          </a:xfrm>
          <a:prstGeom prst="ellipse">
            <a:avLst/>
          </a:prstGeom>
          <a:solidFill>
            <a:schemeClr val="accent1"/>
          </a:solidFill>
          <a:ln/>
        </p:spPr>
        <p:txBody>
          <a:bodyPr/>
          <a:lstStyle/>
          <a:p>
            <a:endParaRPr lang="en-US"/>
          </a:p>
        </p:txBody>
      </p:sp>
      <p:sp>
        <p:nvSpPr>
          <p:cNvPr id="6" name="step 1 label"/>
          <p:cNvSpPr txBox="1"/>
          <p:nvPr/>
        </p:nvSpPr>
        <p:spPr>
          <a:xfrm>
            <a:off x="1797812" y="1469136"/>
            <a:ext cx="256032" cy="256032"/>
          </a:xfrm>
          <a:prstGeom prst="rect">
            <a:avLst/>
          </a:prstGeom>
          <a:noFill/>
          <a:ln/>
        </p:spPr>
        <p:txBody>
          <a:bodyPr wrap="square" lIns="0" tIns="0" rIns="0" bIns="0" rtlCol="0" anchor="ctr"/>
          <a:lstStyle/>
          <a:p>
            <a:pPr marL="0" indent="0" algn="ctr">
              <a:buNone/>
            </a:pPr>
            <a:r>
              <a:rPr lang="en-US" sz="1100" b="1" dirty="0">
                <a:solidFill>
                  <a:schemeClr val="bg1"/>
                </a:solidFill>
              </a:rPr>
              <a:t>1</a:t>
            </a:r>
            <a:endParaRPr lang="en-US" sz="1100" dirty="0"/>
          </a:p>
        </p:txBody>
      </p:sp>
      <p:sp>
        <p:nvSpPr>
          <p:cNvPr id="7" name="step 2"/>
          <p:cNvSpPr/>
          <p:nvPr/>
        </p:nvSpPr>
        <p:spPr>
          <a:xfrm>
            <a:off x="784758" y="3039669"/>
            <a:ext cx="256032" cy="256032"/>
          </a:xfrm>
          <a:prstGeom prst="ellipse">
            <a:avLst/>
          </a:prstGeom>
          <a:solidFill>
            <a:schemeClr val="accent1"/>
          </a:solidFill>
          <a:ln/>
        </p:spPr>
        <p:txBody>
          <a:bodyPr/>
          <a:lstStyle/>
          <a:p>
            <a:endParaRPr lang="en-US"/>
          </a:p>
        </p:txBody>
      </p:sp>
      <p:sp>
        <p:nvSpPr>
          <p:cNvPr id="8" name="step 2 label"/>
          <p:cNvSpPr txBox="1"/>
          <p:nvPr/>
        </p:nvSpPr>
        <p:spPr>
          <a:xfrm>
            <a:off x="784758" y="3039669"/>
            <a:ext cx="256032" cy="256032"/>
          </a:xfrm>
          <a:prstGeom prst="rect">
            <a:avLst/>
          </a:prstGeom>
          <a:noFill/>
          <a:ln/>
        </p:spPr>
        <p:txBody>
          <a:bodyPr wrap="square" lIns="0" tIns="0" rIns="0" bIns="0" rtlCol="0" anchor="ctr"/>
          <a:lstStyle/>
          <a:p>
            <a:pPr marL="0" indent="0" algn="ctr">
              <a:buNone/>
            </a:pPr>
            <a:r>
              <a:rPr lang="en-US" sz="1100" b="1" dirty="0">
                <a:solidFill>
                  <a:schemeClr val="bg1"/>
                </a:solidFill>
              </a:rPr>
              <a:t>2</a:t>
            </a:r>
            <a:endParaRPr lang="en-US" sz="1100" dirty="0"/>
          </a:p>
        </p:txBody>
      </p:sp>
      <p:sp>
        <p:nvSpPr>
          <p:cNvPr id="9" name="step 3"/>
          <p:cNvSpPr/>
          <p:nvPr/>
        </p:nvSpPr>
        <p:spPr>
          <a:xfrm>
            <a:off x="1402182" y="2859837"/>
            <a:ext cx="256032" cy="256032"/>
          </a:xfrm>
          <a:prstGeom prst="ellipse">
            <a:avLst/>
          </a:prstGeom>
          <a:solidFill>
            <a:schemeClr val="accent1"/>
          </a:solidFill>
          <a:ln/>
        </p:spPr>
        <p:txBody>
          <a:bodyPr/>
          <a:lstStyle/>
          <a:p>
            <a:endParaRPr lang="en-US"/>
          </a:p>
        </p:txBody>
      </p:sp>
      <p:sp>
        <p:nvSpPr>
          <p:cNvPr id="10" name="step 3 label"/>
          <p:cNvSpPr txBox="1"/>
          <p:nvPr/>
        </p:nvSpPr>
        <p:spPr>
          <a:xfrm>
            <a:off x="1402182" y="2859837"/>
            <a:ext cx="256032" cy="256032"/>
          </a:xfrm>
          <a:prstGeom prst="rect">
            <a:avLst/>
          </a:prstGeom>
          <a:noFill/>
          <a:ln/>
        </p:spPr>
        <p:txBody>
          <a:bodyPr wrap="square" lIns="0" tIns="0" rIns="0" bIns="0" rtlCol="0" anchor="ctr"/>
          <a:lstStyle/>
          <a:p>
            <a:pPr marL="0" indent="0" algn="ctr">
              <a:buNone/>
            </a:pPr>
            <a:r>
              <a:rPr lang="en-US" sz="1100" b="1" dirty="0">
                <a:solidFill>
                  <a:schemeClr val="bg1"/>
                </a:solidFill>
              </a:rPr>
              <a:t>3</a:t>
            </a:r>
            <a:endParaRPr lang="en-US" sz="1100" dirty="0"/>
          </a:p>
        </p:txBody>
      </p:sp>
      <p:sp>
        <p:nvSpPr>
          <p:cNvPr id="11" name="step 4"/>
          <p:cNvSpPr/>
          <p:nvPr/>
        </p:nvSpPr>
        <p:spPr>
          <a:xfrm>
            <a:off x="3350362" y="2128520"/>
            <a:ext cx="256032" cy="256032"/>
          </a:xfrm>
          <a:prstGeom prst="ellipse">
            <a:avLst/>
          </a:prstGeom>
          <a:solidFill>
            <a:schemeClr val="accent1"/>
          </a:solidFill>
          <a:ln/>
        </p:spPr>
        <p:txBody>
          <a:bodyPr/>
          <a:lstStyle/>
          <a:p>
            <a:endParaRPr lang="en-US"/>
          </a:p>
        </p:txBody>
      </p:sp>
      <p:sp>
        <p:nvSpPr>
          <p:cNvPr id="12" name="step 4 label"/>
          <p:cNvSpPr txBox="1"/>
          <p:nvPr/>
        </p:nvSpPr>
        <p:spPr>
          <a:xfrm>
            <a:off x="3350362" y="2128520"/>
            <a:ext cx="256032" cy="256032"/>
          </a:xfrm>
          <a:prstGeom prst="rect">
            <a:avLst/>
          </a:prstGeom>
          <a:noFill/>
          <a:ln/>
        </p:spPr>
        <p:txBody>
          <a:bodyPr wrap="square" lIns="0" tIns="0" rIns="0" bIns="0" rtlCol="0" anchor="ctr"/>
          <a:lstStyle/>
          <a:p>
            <a:pPr marL="0" indent="0" algn="ctr">
              <a:buNone/>
            </a:pPr>
            <a:r>
              <a:rPr lang="en-US" sz="1100" b="1" dirty="0">
                <a:solidFill>
                  <a:schemeClr val="bg1"/>
                </a:solidFill>
              </a:rPr>
              <a:t>4</a:t>
            </a:r>
            <a:endParaRPr lang="en-US" sz="1100" dirty="0"/>
          </a:p>
        </p:txBody>
      </p:sp>
      <p:sp>
        <p:nvSpPr>
          <p:cNvPr id="13" name="step 5"/>
          <p:cNvSpPr/>
          <p:nvPr/>
        </p:nvSpPr>
        <p:spPr>
          <a:xfrm>
            <a:off x="1528064" y="3908857"/>
            <a:ext cx="256032" cy="256032"/>
          </a:xfrm>
          <a:prstGeom prst="ellipse">
            <a:avLst/>
          </a:prstGeom>
          <a:solidFill>
            <a:schemeClr val="accent1"/>
          </a:solidFill>
          <a:ln/>
        </p:spPr>
        <p:txBody>
          <a:bodyPr/>
          <a:lstStyle/>
          <a:p>
            <a:endParaRPr lang="en-US"/>
          </a:p>
        </p:txBody>
      </p:sp>
      <p:sp>
        <p:nvSpPr>
          <p:cNvPr id="14" name="step 5 label"/>
          <p:cNvSpPr txBox="1"/>
          <p:nvPr/>
        </p:nvSpPr>
        <p:spPr>
          <a:xfrm>
            <a:off x="1528064" y="3908857"/>
            <a:ext cx="256032" cy="256032"/>
          </a:xfrm>
          <a:prstGeom prst="rect">
            <a:avLst/>
          </a:prstGeom>
          <a:noFill/>
          <a:ln/>
        </p:spPr>
        <p:txBody>
          <a:bodyPr wrap="square" lIns="0" tIns="0" rIns="0" bIns="0" rtlCol="0" anchor="ctr"/>
          <a:lstStyle/>
          <a:p>
            <a:pPr marL="0" indent="0" algn="ctr">
              <a:buNone/>
            </a:pPr>
            <a:r>
              <a:rPr lang="en-US" sz="1100" b="1" dirty="0">
                <a:solidFill>
                  <a:schemeClr val="bg1"/>
                </a:solidFill>
              </a:rPr>
              <a:t>5</a:t>
            </a:r>
            <a:endParaRPr lang="en-US" sz="1100" dirty="0"/>
          </a:p>
        </p:txBody>
      </p:sp>
      <p:sp>
        <p:nvSpPr>
          <p:cNvPr id="15" name="step 6"/>
          <p:cNvSpPr/>
          <p:nvPr/>
        </p:nvSpPr>
        <p:spPr>
          <a:xfrm>
            <a:off x="5418430" y="2943758"/>
            <a:ext cx="256032" cy="256032"/>
          </a:xfrm>
          <a:prstGeom prst="ellipse">
            <a:avLst/>
          </a:prstGeom>
          <a:solidFill>
            <a:schemeClr val="accent1"/>
          </a:solidFill>
          <a:ln/>
        </p:spPr>
        <p:txBody>
          <a:bodyPr/>
          <a:lstStyle/>
          <a:p>
            <a:endParaRPr lang="en-US"/>
          </a:p>
        </p:txBody>
      </p:sp>
      <p:sp>
        <p:nvSpPr>
          <p:cNvPr id="16" name="step 6 label"/>
          <p:cNvSpPr txBox="1"/>
          <p:nvPr/>
        </p:nvSpPr>
        <p:spPr>
          <a:xfrm>
            <a:off x="5418430" y="2943758"/>
            <a:ext cx="256032" cy="256032"/>
          </a:xfrm>
          <a:prstGeom prst="rect">
            <a:avLst/>
          </a:prstGeom>
          <a:noFill/>
          <a:ln/>
        </p:spPr>
        <p:txBody>
          <a:bodyPr wrap="square" lIns="0" tIns="0" rIns="0" bIns="0" rtlCol="0" anchor="ctr"/>
          <a:lstStyle/>
          <a:p>
            <a:pPr marL="0" indent="0" algn="ctr">
              <a:buNone/>
            </a:pPr>
            <a:r>
              <a:rPr lang="en-US" sz="1100" b="1" dirty="0">
                <a:solidFill>
                  <a:schemeClr val="bg1"/>
                </a:solidFill>
              </a:rPr>
              <a:t>6</a:t>
            </a:r>
            <a:endParaRPr lang="en-US" sz="1100" dirty="0"/>
          </a:p>
        </p:txBody>
      </p:sp>
      <p:sp>
        <p:nvSpPr>
          <p:cNvPr id="17" name="step 7"/>
          <p:cNvSpPr/>
          <p:nvPr/>
        </p:nvSpPr>
        <p:spPr>
          <a:xfrm>
            <a:off x="1012546" y="3459277"/>
            <a:ext cx="256032" cy="256032"/>
          </a:xfrm>
          <a:prstGeom prst="ellipse">
            <a:avLst/>
          </a:prstGeom>
          <a:solidFill>
            <a:schemeClr val="accent1"/>
          </a:solidFill>
          <a:ln/>
        </p:spPr>
        <p:txBody>
          <a:bodyPr/>
          <a:lstStyle/>
          <a:p>
            <a:endParaRPr lang="en-US"/>
          </a:p>
        </p:txBody>
      </p:sp>
      <p:sp>
        <p:nvSpPr>
          <p:cNvPr id="18" name="step 7 label"/>
          <p:cNvSpPr txBox="1"/>
          <p:nvPr/>
        </p:nvSpPr>
        <p:spPr>
          <a:xfrm>
            <a:off x="1012546" y="3459277"/>
            <a:ext cx="256032" cy="256032"/>
          </a:xfrm>
          <a:prstGeom prst="rect">
            <a:avLst/>
          </a:prstGeom>
          <a:noFill/>
          <a:ln/>
        </p:spPr>
        <p:txBody>
          <a:bodyPr wrap="square" lIns="0" tIns="0" rIns="0" bIns="0" rtlCol="0" anchor="ctr"/>
          <a:lstStyle/>
          <a:p>
            <a:pPr marL="0" indent="0" algn="ctr">
              <a:buNone/>
            </a:pPr>
            <a:r>
              <a:rPr lang="en-US" sz="1100" b="1" dirty="0">
                <a:solidFill>
                  <a:schemeClr val="bg1"/>
                </a:solidFill>
              </a:rPr>
              <a:t>7</a:t>
            </a:r>
            <a:endParaRPr lang="en-US" sz="1100" dirty="0"/>
          </a:p>
        </p:txBody>
      </p:sp>
      <p:sp>
        <p:nvSpPr>
          <p:cNvPr id="19" name="step 1"/>
          <p:cNvSpPr/>
          <p:nvPr/>
        </p:nvSpPr>
        <p:spPr>
          <a:xfrm>
            <a:off x="6172200" y="1124712"/>
            <a:ext cx="256032" cy="256032"/>
          </a:xfrm>
          <a:prstGeom prst="ellipse">
            <a:avLst/>
          </a:prstGeom>
          <a:solidFill>
            <a:schemeClr val="accent1"/>
          </a:solidFill>
          <a:ln/>
        </p:spPr>
        <p:txBody>
          <a:bodyPr/>
          <a:lstStyle/>
          <a:p>
            <a:endParaRPr lang="en-US"/>
          </a:p>
        </p:txBody>
      </p:sp>
      <p:sp>
        <p:nvSpPr>
          <p:cNvPr id="20" name="step 1 label"/>
          <p:cNvSpPr txBox="1"/>
          <p:nvPr/>
        </p:nvSpPr>
        <p:spPr>
          <a:xfrm>
            <a:off x="6172200" y="1124712"/>
            <a:ext cx="256032" cy="256032"/>
          </a:xfrm>
          <a:prstGeom prst="rect">
            <a:avLst/>
          </a:prstGeom>
          <a:noFill/>
          <a:ln/>
        </p:spPr>
        <p:txBody>
          <a:bodyPr wrap="square" lIns="0" tIns="0" rIns="0" bIns="0" rtlCol="0" anchor="ctr"/>
          <a:lstStyle/>
          <a:p>
            <a:pPr marL="0" indent="0" algn="ctr">
              <a:buNone/>
            </a:pPr>
            <a:r>
              <a:rPr lang="en-US" sz="1100" b="1" dirty="0">
                <a:solidFill>
                  <a:schemeClr val="bg1"/>
                </a:solidFill>
              </a:rPr>
              <a:t>1</a:t>
            </a:r>
            <a:endParaRPr lang="en-US" sz="1100" dirty="0"/>
          </a:p>
        </p:txBody>
      </p:sp>
      <p:sp>
        <p:nvSpPr>
          <p:cNvPr id="21" name="legend Header"/>
          <p:cNvSpPr txBox="1"/>
          <p:nvPr/>
        </p:nvSpPr>
        <p:spPr>
          <a:xfrm>
            <a:off x="6537960" y="1097280"/>
            <a:ext cx="2194560" cy="457200"/>
          </a:xfrm>
          <a:prstGeom prst="rect">
            <a:avLst/>
          </a:prstGeom>
          <a:noFill/>
          <a:ln/>
        </p:spPr>
        <p:txBody>
          <a:bodyPr wrap="square" lIns="0" tIns="0" rIns="0" bIns="0" rtlCol="0" anchor="t"/>
          <a:lstStyle/>
          <a:p>
            <a:pPr marL="0" indent="0">
              <a:buNone/>
            </a:pPr>
            <a:r>
              <a:rPr lang="en-US" sz="1300" b="1" dirty="0">
                <a:solidFill>
                  <a:schemeClr val="tx1"/>
                </a:solidFill>
              </a:rPr>
              <a:t>Header</a:t>
            </a:r>
            <a:endParaRPr lang="en-US" sz="1300" dirty="0"/>
          </a:p>
          <a:p>
            <a:pPr marL="0" indent="0">
              <a:buNone/>
            </a:pPr>
            <a:r>
              <a:rPr lang="en-US" sz="1100" dirty="0">
                <a:solidFill>
                  <a:schemeClr val="tx2"/>
                </a:solidFill>
              </a:rPr>
              <a:t>Icon, title and explanation</a:t>
            </a:r>
            <a:endParaRPr lang="en-US" sz="1300" dirty="0"/>
          </a:p>
        </p:txBody>
      </p:sp>
      <p:sp>
        <p:nvSpPr>
          <p:cNvPr id="22" name="step 2"/>
          <p:cNvSpPr/>
          <p:nvPr/>
        </p:nvSpPr>
        <p:spPr>
          <a:xfrm>
            <a:off x="6172200" y="1609344"/>
            <a:ext cx="256032" cy="256032"/>
          </a:xfrm>
          <a:prstGeom prst="ellipse">
            <a:avLst/>
          </a:prstGeom>
          <a:solidFill>
            <a:schemeClr val="accent1"/>
          </a:solidFill>
          <a:ln/>
        </p:spPr>
        <p:txBody>
          <a:bodyPr/>
          <a:lstStyle/>
          <a:p>
            <a:endParaRPr lang="en-US"/>
          </a:p>
        </p:txBody>
      </p:sp>
      <p:sp>
        <p:nvSpPr>
          <p:cNvPr id="23" name="step 2 label"/>
          <p:cNvSpPr txBox="1"/>
          <p:nvPr/>
        </p:nvSpPr>
        <p:spPr>
          <a:xfrm>
            <a:off x="6172200" y="1609344"/>
            <a:ext cx="256032" cy="256032"/>
          </a:xfrm>
          <a:prstGeom prst="rect">
            <a:avLst/>
          </a:prstGeom>
          <a:noFill/>
          <a:ln/>
        </p:spPr>
        <p:txBody>
          <a:bodyPr wrap="square" lIns="0" tIns="0" rIns="0" bIns="0" rtlCol="0" anchor="ctr"/>
          <a:lstStyle/>
          <a:p>
            <a:pPr marL="0" indent="0" algn="ctr">
              <a:buNone/>
            </a:pPr>
            <a:r>
              <a:rPr lang="en-US" sz="1100" b="1" dirty="0">
                <a:solidFill>
                  <a:schemeClr val="bg1"/>
                </a:solidFill>
              </a:rPr>
              <a:t>2</a:t>
            </a:r>
            <a:endParaRPr lang="en-US" sz="1100" dirty="0"/>
          </a:p>
        </p:txBody>
      </p:sp>
      <p:sp>
        <p:nvSpPr>
          <p:cNvPr id="24" name="legend Start bar"/>
          <p:cNvSpPr txBox="1"/>
          <p:nvPr/>
        </p:nvSpPr>
        <p:spPr>
          <a:xfrm>
            <a:off x="6537960" y="1581912"/>
            <a:ext cx="2194560" cy="457200"/>
          </a:xfrm>
          <a:prstGeom prst="rect">
            <a:avLst/>
          </a:prstGeom>
          <a:noFill/>
          <a:ln/>
        </p:spPr>
        <p:txBody>
          <a:bodyPr wrap="square" lIns="0" tIns="0" rIns="0" bIns="0" rtlCol="0" anchor="t"/>
          <a:lstStyle/>
          <a:p>
            <a:pPr marL="0" indent="0">
              <a:buNone/>
            </a:pPr>
            <a:r>
              <a:rPr lang="en-US" sz="1300" b="1" dirty="0">
                <a:solidFill>
                  <a:schemeClr val="tx1"/>
                </a:solidFill>
              </a:rPr>
              <a:t>Start bar</a:t>
            </a:r>
            <a:endParaRPr lang="en-US" sz="1300" dirty="0"/>
          </a:p>
          <a:p>
            <a:pPr marL="0" indent="0">
              <a:buNone/>
            </a:pPr>
            <a:r>
              <a:rPr lang="en-US" sz="1100" dirty="0">
                <a:solidFill>
                  <a:schemeClr val="tx2"/>
                </a:solidFill>
              </a:rPr>
              <a:t>Opening value, stands on the axis</a:t>
            </a:r>
            <a:endParaRPr lang="en-US" sz="1300" dirty="0"/>
          </a:p>
        </p:txBody>
      </p:sp>
      <p:sp>
        <p:nvSpPr>
          <p:cNvPr id="25" name="step 3"/>
          <p:cNvSpPr/>
          <p:nvPr/>
        </p:nvSpPr>
        <p:spPr>
          <a:xfrm>
            <a:off x="6172200" y="2093976"/>
            <a:ext cx="256032" cy="256032"/>
          </a:xfrm>
          <a:prstGeom prst="ellipse">
            <a:avLst/>
          </a:prstGeom>
          <a:solidFill>
            <a:schemeClr val="accent1"/>
          </a:solidFill>
          <a:ln/>
        </p:spPr>
        <p:txBody>
          <a:bodyPr/>
          <a:lstStyle/>
          <a:p>
            <a:endParaRPr lang="en-US"/>
          </a:p>
        </p:txBody>
      </p:sp>
      <p:sp>
        <p:nvSpPr>
          <p:cNvPr id="26" name="step 3 label"/>
          <p:cNvSpPr txBox="1"/>
          <p:nvPr/>
        </p:nvSpPr>
        <p:spPr>
          <a:xfrm>
            <a:off x="6172200" y="2093976"/>
            <a:ext cx="256032" cy="256032"/>
          </a:xfrm>
          <a:prstGeom prst="rect">
            <a:avLst/>
          </a:prstGeom>
          <a:noFill/>
          <a:ln/>
        </p:spPr>
        <p:txBody>
          <a:bodyPr wrap="square" lIns="0" tIns="0" rIns="0" bIns="0" rtlCol="0" anchor="ctr"/>
          <a:lstStyle/>
          <a:p>
            <a:pPr marL="0" indent="0" algn="ctr">
              <a:buNone/>
            </a:pPr>
            <a:r>
              <a:rPr lang="en-US" sz="1100" b="1" dirty="0">
                <a:solidFill>
                  <a:schemeClr val="bg1"/>
                </a:solidFill>
              </a:rPr>
              <a:t>3</a:t>
            </a:r>
            <a:endParaRPr lang="en-US" sz="1100" dirty="0"/>
          </a:p>
        </p:txBody>
      </p:sp>
      <p:sp>
        <p:nvSpPr>
          <p:cNvPr id="27" name="legend Increases"/>
          <p:cNvSpPr txBox="1"/>
          <p:nvPr/>
        </p:nvSpPr>
        <p:spPr>
          <a:xfrm>
            <a:off x="6537960" y="2066544"/>
            <a:ext cx="2194560" cy="457200"/>
          </a:xfrm>
          <a:prstGeom prst="rect">
            <a:avLst/>
          </a:prstGeom>
          <a:noFill/>
          <a:ln/>
        </p:spPr>
        <p:txBody>
          <a:bodyPr wrap="square" lIns="0" tIns="0" rIns="0" bIns="0" rtlCol="0" anchor="t"/>
          <a:lstStyle/>
          <a:p>
            <a:pPr marL="0" indent="0">
              <a:buNone/>
            </a:pPr>
            <a:r>
              <a:rPr lang="en-US" sz="1300" b="1" dirty="0">
                <a:solidFill>
                  <a:schemeClr val="tx1"/>
                </a:solidFill>
              </a:rPr>
              <a:t>Increases</a:t>
            </a:r>
            <a:endParaRPr lang="en-US" sz="1300" dirty="0"/>
          </a:p>
          <a:p>
            <a:pPr marL="0" indent="0">
              <a:buNone/>
            </a:pPr>
            <a:r>
              <a:rPr lang="en-US" sz="1100" dirty="0">
                <a:solidFill>
                  <a:schemeClr val="tx2"/>
                </a:solidFill>
              </a:rPr>
              <a:t>Float up from the running total</a:t>
            </a:r>
            <a:endParaRPr lang="en-US" sz="1300" dirty="0"/>
          </a:p>
        </p:txBody>
      </p:sp>
      <p:sp>
        <p:nvSpPr>
          <p:cNvPr id="28" name="step 4"/>
          <p:cNvSpPr/>
          <p:nvPr/>
        </p:nvSpPr>
        <p:spPr>
          <a:xfrm>
            <a:off x="6172200" y="2578608"/>
            <a:ext cx="256032" cy="256032"/>
          </a:xfrm>
          <a:prstGeom prst="ellipse">
            <a:avLst/>
          </a:prstGeom>
          <a:solidFill>
            <a:schemeClr val="accent1"/>
          </a:solidFill>
          <a:ln/>
        </p:spPr>
        <p:txBody>
          <a:bodyPr/>
          <a:lstStyle/>
          <a:p>
            <a:endParaRPr lang="en-US"/>
          </a:p>
        </p:txBody>
      </p:sp>
      <p:sp>
        <p:nvSpPr>
          <p:cNvPr id="29" name="step 4 label"/>
          <p:cNvSpPr txBox="1"/>
          <p:nvPr/>
        </p:nvSpPr>
        <p:spPr>
          <a:xfrm>
            <a:off x="6172200" y="2578608"/>
            <a:ext cx="256032" cy="256032"/>
          </a:xfrm>
          <a:prstGeom prst="rect">
            <a:avLst/>
          </a:prstGeom>
          <a:noFill/>
          <a:ln/>
        </p:spPr>
        <p:txBody>
          <a:bodyPr wrap="square" lIns="0" tIns="0" rIns="0" bIns="0" rtlCol="0" anchor="ctr"/>
          <a:lstStyle/>
          <a:p>
            <a:pPr marL="0" indent="0" algn="ctr">
              <a:buNone/>
            </a:pPr>
            <a:r>
              <a:rPr lang="en-US" sz="1100" b="1" dirty="0">
                <a:solidFill>
                  <a:schemeClr val="bg1"/>
                </a:solidFill>
              </a:rPr>
              <a:t>4</a:t>
            </a:r>
            <a:endParaRPr lang="en-US" sz="1100" dirty="0"/>
          </a:p>
        </p:txBody>
      </p:sp>
      <p:sp>
        <p:nvSpPr>
          <p:cNvPr id="30" name="legend Decreases"/>
          <p:cNvSpPr txBox="1"/>
          <p:nvPr/>
        </p:nvSpPr>
        <p:spPr>
          <a:xfrm>
            <a:off x="6537960" y="2551176"/>
            <a:ext cx="2194560" cy="457200"/>
          </a:xfrm>
          <a:prstGeom prst="rect">
            <a:avLst/>
          </a:prstGeom>
          <a:noFill/>
          <a:ln/>
        </p:spPr>
        <p:txBody>
          <a:bodyPr wrap="square" lIns="0" tIns="0" rIns="0" bIns="0" rtlCol="0" anchor="t"/>
          <a:lstStyle/>
          <a:p>
            <a:pPr marL="0" indent="0">
              <a:buNone/>
            </a:pPr>
            <a:r>
              <a:rPr lang="en-US" sz="1300" b="1" dirty="0">
                <a:solidFill>
                  <a:schemeClr val="tx1"/>
                </a:solidFill>
              </a:rPr>
              <a:t>Decreases</a:t>
            </a:r>
            <a:endParaRPr lang="en-US" sz="1300" dirty="0"/>
          </a:p>
          <a:p>
            <a:pPr marL="0" indent="0">
              <a:buNone/>
            </a:pPr>
            <a:r>
              <a:rPr lang="en-US" sz="1100" dirty="0">
                <a:solidFill>
                  <a:schemeClr val="tx2"/>
                </a:solidFill>
              </a:rPr>
              <a:t>Float down from the running total</a:t>
            </a:r>
            <a:endParaRPr lang="en-US" sz="1300" dirty="0"/>
          </a:p>
        </p:txBody>
      </p:sp>
      <p:sp>
        <p:nvSpPr>
          <p:cNvPr id="31" name="step 5"/>
          <p:cNvSpPr/>
          <p:nvPr/>
        </p:nvSpPr>
        <p:spPr>
          <a:xfrm>
            <a:off x="6172200" y="3063240"/>
            <a:ext cx="256032" cy="256032"/>
          </a:xfrm>
          <a:prstGeom prst="ellipse">
            <a:avLst/>
          </a:prstGeom>
          <a:solidFill>
            <a:schemeClr val="accent1"/>
          </a:solidFill>
          <a:ln/>
        </p:spPr>
        <p:txBody>
          <a:bodyPr/>
          <a:lstStyle/>
          <a:p>
            <a:endParaRPr lang="en-US"/>
          </a:p>
        </p:txBody>
      </p:sp>
      <p:sp>
        <p:nvSpPr>
          <p:cNvPr id="32" name="step 5 label"/>
          <p:cNvSpPr txBox="1"/>
          <p:nvPr/>
        </p:nvSpPr>
        <p:spPr>
          <a:xfrm>
            <a:off x="6172200" y="3063240"/>
            <a:ext cx="256032" cy="256032"/>
          </a:xfrm>
          <a:prstGeom prst="rect">
            <a:avLst/>
          </a:prstGeom>
          <a:noFill/>
          <a:ln/>
        </p:spPr>
        <p:txBody>
          <a:bodyPr wrap="square" lIns="0" tIns="0" rIns="0" bIns="0" rtlCol="0" anchor="ctr"/>
          <a:lstStyle/>
          <a:p>
            <a:pPr marL="0" indent="0" algn="ctr">
              <a:buNone/>
            </a:pPr>
            <a:r>
              <a:rPr lang="en-US" sz="1100" b="1" dirty="0">
                <a:solidFill>
                  <a:schemeClr val="bg1"/>
                </a:solidFill>
              </a:rPr>
              <a:t>5</a:t>
            </a:r>
            <a:endParaRPr lang="en-US" sz="1100" dirty="0"/>
          </a:p>
        </p:txBody>
      </p:sp>
      <p:sp>
        <p:nvSpPr>
          <p:cNvPr id="33" name="legend Group lines"/>
          <p:cNvSpPr txBox="1"/>
          <p:nvPr/>
        </p:nvSpPr>
        <p:spPr>
          <a:xfrm>
            <a:off x="6537960" y="3035808"/>
            <a:ext cx="2194560" cy="457200"/>
          </a:xfrm>
          <a:prstGeom prst="rect">
            <a:avLst/>
          </a:prstGeom>
          <a:noFill/>
          <a:ln/>
        </p:spPr>
        <p:txBody>
          <a:bodyPr wrap="square" lIns="0" tIns="0" rIns="0" bIns="0" rtlCol="0" anchor="t"/>
          <a:lstStyle/>
          <a:p>
            <a:pPr marL="0" indent="0">
              <a:buNone/>
            </a:pPr>
            <a:r>
              <a:rPr lang="en-US" sz="1300" b="1" dirty="0">
                <a:solidFill>
                  <a:schemeClr val="tx1"/>
                </a:solidFill>
              </a:rPr>
              <a:t>Group lines</a:t>
            </a:r>
            <a:endParaRPr lang="en-US" sz="1300" dirty="0"/>
          </a:p>
          <a:p>
            <a:pPr marL="0" indent="0">
              <a:buNone/>
            </a:pPr>
            <a:r>
              <a:rPr lang="en-US" sz="1100" dirty="0">
                <a:solidFill>
                  <a:schemeClr val="tx2"/>
                </a:solidFill>
              </a:rPr>
              <a:t>Runs of ups and downs with totals</a:t>
            </a:r>
            <a:endParaRPr lang="en-US" sz="1300" dirty="0"/>
          </a:p>
        </p:txBody>
      </p:sp>
      <p:sp>
        <p:nvSpPr>
          <p:cNvPr id="34" name="step 6"/>
          <p:cNvSpPr/>
          <p:nvPr/>
        </p:nvSpPr>
        <p:spPr>
          <a:xfrm>
            <a:off x="6172200" y="3547872"/>
            <a:ext cx="256032" cy="256032"/>
          </a:xfrm>
          <a:prstGeom prst="ellipse">
            <a:avLst/>
          </a:prstGeom>
          <a:solidFill>
            <a:schemeClr val="accent1"/>
          </a:solidFill>
          <a:ln/>
        </p:spPr>
        <p:txBody>
          <a:bodyPr/>
          <a:lstStyle/>
          <a:p>
            <a:endParaRPr lang="en-US"/>
          </a:p>
        </p:txBody>
      </p:sp>
      <p:sp>
        <p:nvSpPr>
          <p:cNvPr id="35" name="step 6 label"/>
          <p:cNvSpPr txBox="1"/>
          <p:nvPr/>
        </p:nvSpPr>
        <p:spPr>
          <a:xfrm>
            <a:off x="6172200" y="3547872"/>
            <a:ext cx="256032" cy="256032"/>
          </a:xfrm>
          <a:prstGeom prst="rect">
            <a:avLst/>
          </a:prstGeom>
          <a:noFill/>
          <a:ln/>
        </p:spPr>
        <p:txBody>
          <a:bodyPr wrap="square" lIns="0" tIns="0" rIns="0" bIns="0" rtlCol="0" anchor="ctr"/>
          <a:lstStyle/>
          <a:p>
            <a:pPr marL="0" indent="0" algn="ctr">
              <a:buNone/>
            </a:pPr>
            <a:r>
              <a:rPr lang="en-US" sz="1100" b="1" dirty="0">
                <a:solidFill>
                  <a:schemeClr val="bg1"/>
                </a:solidFill>
              </a:rPr>
              <a:t>6</a:t>
            </a:r>
            <a:endParaRPr lang="en-US" sz="1100" dirty="0"/>
          </a:p>
        </p:txBody>
      </p:sp>
      <p:sp>
        <p:nvSpPr>
          <p:cNvPr id="36" name="legend End bar"/>
          <p:cNvSpPr txBox="1"/>
          <p:nvPr/>
        </p:nvSpPr>
        <p:spPr>
          <a:xfrm>
            <a:off x="6537960" y="3520440"/>
            <a:ext cx="2194560" cy="457200"/>
          </a:xfrm>
          <a:prstGeom prst="rect">
            <a:avLst/>
          </a:prstGeom>
          <a:noFill/>
          <a:ln/>
        </p:spPr>
        <p:txBody>
          <a:bodyPr wrap="square" lIns="0" tIns="0" rIns="0" bIns="0" rtlCol="0" anchor="t"/>
          <a:lstStyle/>
          <a:p>
            <a:pPr marL="0" indent="0">
              <a:buNone/>
            </a:pPr>
            <a:r>
              <a:rPr lang="en-US" sz="1300" b="1" dirty="0">
                <a:solidFill>
                  <a:schemeClr val="tx1"/>
                </a:solidFill>
              </a:rPr>
              <a:t>End bar</a:t>
            </a:r>
            <a:endParaRPr lang="en-US" sz="1300" dirty="0"/>
          </a:p>
          <a:p>
            <a:pPr marL="0" indent="0">
              <a:buNone/>
            </a:pPr>
            <a:r>
              <a:rPr lang="en-US" sz="1100" dirty="0">
                <a:solidFill>
                  <a:schemeClr val="tx2"/>
                </a:solidFill>
              </a:rPr>
              <a:t>Closing value, dropped or calculated</a:t>
            </a:r>
            <a:endParaRPr lang="en-US" sz="1300" dirty="0"/>
          </a:p>
        </p:txBody>
      </p:sp>
      <p:sp>
        <p:nvSpPr>
          <p:cNvPr id="37" name="step 7"/>
          <p:cNvSpPr/>
          <p:nvPr/>
        </p:nvSpPr>
        <p:spPr>
          <a:xfrm>
            <a:off x="6172200" y="4032504"/>
            <a:ext cx="256032" cy="256032"/>
          </a:xfrm>
          <a:prstGeom prst="ellipse">
            <a:avLst/>
          </a:prstGeom>
          <a:solidFill>
            <a:schemeClr val="accent1"/>
          </a:solidFill>
          <a:ln/>
        </p:spPr>
        <p:txBody>
          <a:bodyPr/>
          <a:lstStyle/>
          <a:p>
            <a:endParaRPr lang="en-US"/>
          </a:p>
        </p:txBody>
      </p:sp>
      <p:sp>
        <p:nvSpPr>
          <p:cNvPr id="38" name="step 7 label"/>
          <p:cNvSpPr txBox="1"/>
          <p:nvPr/>
        </p:nvSpPr>
        <p:spPr>
          <a:xfrm>
            <a:off x="6172200" y="4032504"/>
            <a:ext cx="256032" cy="256032"/>
          </a:xfrm>
          <a:prstGeom prst="rect">
            <a:avLst/>
          </a:prstGeom>
          <a:noFill/>
          <a:ln/>
        </p:spPr>
        <p:txBody>
          <a:bodyPr wrap="square" lIns="0" tIns="0" rIns="0" bIns="0" rtlCol="0" anchor="ctr"/>
          <a:lstStyle/>
          <a:p>
            <a:pPr marL="0" indent="0" algn="ctr">
              <a:buNone/>
            </a:pPr>
            <a:r>
              <a:rPr lang="en-US" sz="1100" b="1" dirty="0">
                <a:solidFill>
                  <a:schemeClr val="bg1"/>
                </a:solidFill>
              </a:rPr>
              <a:t>7</a:t>
            </a:r>
            <a:endParaRPr lang="en-US" sz="1100" dirty="0"/>
          </a:p>
        </p:txBody>
      </p:sp>
      <p:sp>
        <p:nvSpPr>
          <p:cNvPr id="39" name="legend Clipped marker"/>
          <p:cNvSpPr txBox="1"/>
          <p:nvPr/>
        </p:nvSpPr>
        <p:spPr>
          <a:xfrm>
            <a:off x="6537960" y="4005072"/>
            <a:ext cx="2194560" cy="457200"/>
          </a:xfrm>
          <a:prstGeom prst="rect">
            <a:avLst/>
          </a:prstGeom>
          <a:noFill/>
          <a:ln/>
        </p:spPr>
        <p:txBody>
          <a:bodyPr wrap="square" lIns="0" tIns="0" rIns="0" bIns="0" rtlCol="0" anchor="t"/>
          <a:lstStyle/>
          <a:p>
            <a:pPr marL="0" indent="0">
              <a:buNone/>
            </a:pPr>
            <a:r>
              <a:rPr lang="en-US" sz="1300" b="1" dirty="0">
                <a:solidFill>
                  <a:schemeClr val="tx1"/>
                </a:solidFill>
              </a:rPr>
              <a:t>Clipped marker</a:t>
            </a:r>
            <a:endParaRPr lang="en-US" sz="1300" dirty="0"/>
          </a:p>
          <a:p>
            <a:pPr marL="0" indent="0">
              <a:buNone/>
            </a:pPr>
            <a:r>
              <a:rPr lang="en-US" sz="1100" dirty="0">
                <a:solidFill>
                  <a:schemeClr val="tx2"/>
                </a:solidFill>
              </a:rPr>
              <a:t>Bar is longer than it looks</a:t>
            </a:r>
            <a:endParaRPr lang="en-US" sz="1300" dirty="0"/>
          </a:p>
        </p:txBody>
      </p:sp>
      <p:sp>
        <p:nvSpPr>
          <p:cNvPr id="40"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Before you start</a:t>
            </a:r>
            <a:endParaRPr lang="en-US" sz="3000" dirty="0"/>
          </a:p>
        </p:txBody>
      </p:sp>
      <p:sp>
        <p:nvSpPr>
          <p:cNvPr id="3" name="requirement card 1"/>
          <p:cNvSpPr/>
          <p:nvPr/>
        </p:nvSpPr>
        <p:spPr>
          <a:xfrm>
            <a:off x="457200" y="1234440"/>
            <a:ext cx="2596896" cy="3200400"/>
          </a:xfrm>
          <a:prstGeom prst="roundRect">
            <a:avLst>
              <a:gd name="adj" fmla="val 2817"/>
            </a:avLst>
          </a:prstGeom>
          <a:solidFill>
            <a:schemeClr val="bg2"/>
          </a:solidFill>
          <a:ln/>
        </p:spPr>
        <p:txBody>
          <a:bodyPr/>
          <a:lstStyle/>
          <a:p>
            <a:endParaRPr lang="en-US"/>
          </a:p>
        </p:txBody>
      </p:sp>
      <p:sp>
        <p:nvSpPr>
          <p:cNvPr id="4" name="requirement icon bg 1"/>
          <p:cNvSpPr/>
          <p:nvPr/>
        </p:nvSpPr>
        <p:spPr>
          <a:xfrm>
            <a:off x="731520" y="1508760"/>
            <a:ext cx="640080" cy="640080"/>
          </a:xfrm>
          <a:prstGeom prst="ellipse">
            <a:avLst/>
          </a:prstGeom>
          <a:solidFill>
            <a:schemeClr val="bg1"/>
          </a:solidFill>
          <a:ln/>
        </p:spPr>
        <p:txBody>
          <a:bodyPr/>
          <a:lstStyle/>
          <a:p>
            <a:endParaRPr lang="en-US"/>
          </a:p>
        </p:txBody>
      </p:sp>
      <p:pic>
        <p:nvPicPr>
          <p:cNvPr id="5" name="requirement icon 1" descr="Tableau 2024.2 or later"/>
          <p:cNvPicPr>
            <a:picLocks noChangeAspect="1"/>
          </p:cNvPicPr>
          <p:nvPr/>
        </p:nvPicPr>
        <p:blipFill>
          <a:blip r:embed="rId3"/>
          <a:stretch>
            <a:fillRect/>
          </a:stretch>
        </p:blipFill>
        <p:spPr>
          <a:xfrm>
            <a:off x="886968" y="1664208"/>
            <a:ext cx="329184" cy="329184"/>
          </a:xfrm>
          <a:prstGeom prst="rect">
            <a:avLst/>
          </a:prstGeom>
        </p:spPr>
      </p:pic>
      <p:sp>
        <p:nvSpPr>
          <p:cNvPr id="6" name="requirement title 1"/>
          <p:cNvSpPr txBox="1"/>
          <p:nvPr/>
        </p:nvSpPr>
        <p:spPr>
          <a:xfrm>
            <a:off x="731520" y="2331720"/>
            <a:ext cx="2048256" cy="548640"/>
          </a:xfrm>
          <a:prstGeom prst="rect">
            <a:avLst/>
          </a:prstGeom>
          <a:noFill/>
          <a:ln/>
        </p:spPr>
        <p:txBody>
          <a:bodyPr wrap="square" lIns="0" tIns="0" rIns="0" bIns="0" rtlCol="0" anchor="t"/>
          <a:lstStyle/>
          <a:p>
            <a:pPr marL="0" indent="0">
              <a:buNone/>
            </a:pPr>
            <a:r>
              <a:rPr lang="en-US" sz="1600" b="1" dirty="0">
                <a:solidFill>
                  <a:schemeClr val="tx1"/>
                </a:solidFill>
              </a:rPr>
              <a:t>Tableau 2024.2 or later</a:t>
            </a:r>
            <a:endParaRPr lang="en-US" sz="1600" dirty="0"/>
          </a:p>
        </p:txBody>
      </p:sp>
      <p:sp>
        <p:nvSpPr>
          <p:cNvPr id="7" name="requirement text 1"/>
          <p:cNvSpPr txBox="1"/>
          <p:nvPr/>
        </p:nvSpPr>
        <p:spPr>
          <a:xfrm>
            <a:off x="731520" y="2926080"/>
            <a:ext cx="2048256" cy="1371600"/>
          </a:xfrm>
          <a:prstGeom prst="rect">
            <a:avLst/>
          </a:prstGeom>
          <a:noFill/>
          <a:ln/>
        </p:spPr>
        <p:txBody>
          <a:bodyPr wrap="square" lIns="0" tIns="0" rIns="0" bIns="0" rtlCol="0" anchor="t"/>
          <a:lstStyle/>
          <a:p>
            <a:pPr marL="0" indent="0">
              <a:buNone/>
            </a:pPr>
            <a:r>
              <a:rPr lang="en-US" sz="1300" dirty="0">
                <a:solidFill>
                  <a:schemeClr val="tx2"/>
                </a:solidFill>
              </a:rPr>
              <a:t>Viz extensions run in Tableau Desktop and in web authoring on Tableau Server or Cloud.</a:t>
            </a:r>
            <a:endParaRPr lang="en-US" sz="1300" dirty="0"/>
          </a:p>
        </p:txBody>
      </p:sp>
      <p:sp>
        <p:nvSpPr>
          <p:cNvPr id="8" name="requirement card 2"/>
          <p:cNvSpPr/>
          <p:nvPr/>
        </p:nvSpPr>
        <p:spPr>
          <a:xfrm>
            <a:off x="3273552" y="1234440"/>
            <a:ext cx="2596896" cy="3200400"/>
          </a:xfrm>
          <a:prstGeom prst="roundRect">
            <a:avLst>
              <a:gd name="adj" fmla="val 2817"/>
            </a:avLst>
          </a:prstGeom>
          <a:solidFill>
            <a:schemeClr val="bg2"/>
          </a:solidFill>
          <a:ln/>
        </p:spPr>
        <p:txBody>
          <a:bodyPr/>
          <a:lstStyle/>
          <a:p>
            <a:endParaRPr lang="en-US"/>
          </a:p>
        </p:txBody>
      </p:sp>
      <p:sp>
        <p:nvSpPr>
          <p:cNvPr id="9" name="requirement icon bg 2"/>
          <p:cNvSpPr/>
          <p:nvPr/>
        </p:nvSpPr>
        <p:spPr>
          <a:xfrm>
            <a:off x="3547872" y="1508760"/>
            <a:ext cx="640080" cy="640080"/>
          </a:xfrm>
          <a:prstGeom prst="ellipse">
            <a:avLst/>
          </a:prstGeom>
          <a:solidFill>
            <a:schemeClr val="bg1"/>
          </a:solidFill>
          <a:ln/>
        </p:spPr>
        <p:txBody>
          <a:bodyPr/>
          <a:lstStyle/>
          <a:p>
            <a:endParaRPr lang="en-US"/>
          </a:p>
        </p:txBody>
      </p:sp>
      <p:pic>
        <p:nvPicPr>
          <p:cNvPr id="10" name="requirement icon 2" descr="The extension is reachable"/>
          <p:cNvPicPr>
            <a:picLocks noChangeAspect="1"/>
          </p:cNvPicPr>
          <p:nvPr/>
        </p:nvPicPr>
        <p:blipFill>
          <a:blip r:embed="rId4"/>
          <a:stretch>
            <a:fillRect/>
          </a:stretch>
        </p:blipFill>
        <p:spPr>
          <a:xfrm>
            <a:off x="3703320" y="1664208"/>
            <a:ext cx="329184" cy="329184"/>
          </a:xfrm>
          <a:prstGeom prst="rect">
            <a:avLst/>
          </a:prstGeom>
        </p:spPr>
      </p:pic>
      <p:sp>
        <p:nvSpPr>
          <p:cNvPr id="11" name="requirement title 2"/>
          <p:cNvSpPr txBox="1"/>
          <p:nvPr/>
        </p:nvSpPr>
        <p:spPr>
          <a:xfrm>
            <a:off x="3547872" y="2331720"/>
            <a:ext cx="2048256" cy="548640"/>
          </a:xfrm>
          <a:prstGeom prst="rect">
            <a:avLst/>
          </a:prstGeom>
          <a:noFill/>
          <a:ln/>
        </p:spPr>
        <p:txBody>
          <a:bodyPr wrap="square" lIns="0" tIns="0" rIns="0" bIns="0" rtlCol="0" anchor="t"/>
          <a:lstStyle/>
          <a:p>
            <a:pPr marL="0" indent="0">
              <a:buNone/>
            </a:pPr>
            <a:r>
              <a:rPr lang="en-US" sz="1600" b="1" dirty="0">
                <a:solidFill>
                  <a:schemeClr val="tx1"/>
                </a:solidFill>
              </a:rPr>
              <a:t>The extension is reachable</a:t>
            </a:r>
            <a:endParaRPr lang="en-US" sz="1600" dirty="0"/>
          </a:p>
        </p:txBody>
      </p:sp>
      <p:sp>
        <p:nvSpPr>
          <p:cNvPr id="12" name="requirement text 2"/>
          <p:cNvSpPr txBox="1"/>
          <p:nvPr/>
        </p:nvSpPr>
        <p:spPr>
          <a:xfrm>
            <a:off x="3547872" y="2926080"/>
            <a:ext cx="2048256" cy="1371600"/>
          </a:xfrm>
          <a:prstGeom prst="rect">
            <a:avLst/>
          </a:prstGeom>
          <a:noFill/>
          <a:ln/>
        </p:spPr>
        <p:txBody>
          <a:bodyPr wrap="square" lIns="0" tIns="0" rIns="0" bIns="0" rtlCol="0" anchor="t"/>
          <a:lstStyle/>
          <a:p>
            <a:pPr marL="0" indent="0">
              <a:buNone/>
            </a:pPr>
            <a:r>
              <a:rPr lang="en-US" sz="1300" dirty="0">
                <a:solidFill>
                  <a:schemeClr val="tx2"/>
                </a:solidFill>
              </a:rPr>
              <a:t>waterfall.trex points to cobani.github.io. On Tableau Server that URL, or your own copy, must be on the extension safe list.</a:t>
            </a:r>
            <a:endParaRPr lang="en-US" sz="1300" dirty="0"/>
          </a:p>
        </p:txBody>
      </p:sp>
      <p:sp>
        <p:nvSpPr>
          <p:cNvPr id="13" name="requirement card 3"/>
          <p:cNvSpPr/>
          <p:nvPr/>
        </p:nvSpPr>
        <p:spPr>
          <a:xfrm>
            <a:off x="6089904" y="1234440"/>
            <a:ext cx="2596896" cy="3200400"/>
          </a:xfrm>
          <a:prstGeom prst="roundRect">
            <a:avLst>
              <a:gd name="adj" fmla="val 2817"/>
            </a:avLst>
          </a:prstGeom>
          <a:solidFill>
            <a:schemeClr val="bg2"/>
          </a:solidFill>
          <a:ln/>
        </p:spPr>
        <p:txBody>
          <a:bodyPr/>
          <a:lstStyle/>
          <a:p>
            <a:endParaRPr lang="en-US"/>
          </a:p>
        </p:txBody>
      </p:sp>
      <p:sp>
        <p:nvSpPr>
          <p:cNvPr id="14" name="requirement icon bg 3"/>
          <p:cNvSpPr/>
          <p:nvPr/>
        </p:nvSpPr>
        <p:spPr>
          <a:xfrm>
            <a:off x="6364224" y="1508760"/>
            <a:ext cx="640080" cy="640080"/>
          </a:xfrm>
          <a:prstGeom prst="ellipse">
            <a:avLst/>
          </a:prstGeom>
          <a:solidFill>
            <a:schemeClr val="bg1"/>
          </a:solidFill>
          <a:ln/>
        </p:spPr>
        <p:txBody>
          <a:bodyPr/>
          <a:lstStyle/>
          <a:p>
            <a:endParaRPr lang="en-US"/>
          </a:p>
        </p:txBody>
      </p:sp>
      <p:pic>
        <p:nvPicPr>
          <p:cNvPr id="15" name="requirement icon 3" descr="You have waterfall.trex"/>
          <p:cNvPicPr>
            <a:picLocks noChangeAspect="1"/>
          </p:cNvPicPr>
          <p:nvPr/>
        </p:nvPicPr>
        <p:blipFill>
          <a:blip r:embed="rId5"/>
          <a:stretch>
            <a:fillRect/>
          </a:stretch>
        </p:blipFill>
        <p:spPr>
          <a:xfrm>
            <a:off x="6519672" y="1664208"/>
            <a:ext cx="329184" cy="329184"/>
          </a:xfrm>
          <a:prstGeom prst="rect">
            <a:avLst/>
          </a:prstGeom>
        </p:spPr>
      </p:pic>
      <p:sp>
        <p:nvSpPr>
          <p:cNvPr id="16" name="requirement title 3"/>
          <p:cNvSpPr txBox="1"/>
          <p:nvPr/>
        </p:nvSpPr>
        <p:spPr>
          <a:xfrm>
            <a:off x="6364224" y="2331720"/>
            <a:ext cx="2048256" cy="548640"/>
          </a:xfrm>
          <a:prstGeom prst="rect">
            <a:avLst/>
          </a:prstGeom>
          <a:noFill/>
          <a:ln/>
        </p:spPr>
        <p:txBody>
          <a:bodyPr wrap="square" lIns="0" tIns="0" rIns="0" bIns="0" rtlCol="0" anchor="t"/>
          <a:lstStyle/>
          <a:p>
            <a:pPr marL="0" indent="0">
              <a:buNone/>
            </a:pPr>
            <a:r>
              <a:rPr lang="en-US" sz="1600" b="1" dirty="0">
                <a:solidFill>
                  <a:schemeClr val="tx1"/>
                </a:solidFill>
              </a:rPr>
              <a:t>You have waterfall.trex</a:t>
            </a:r>
            <a:endParaRPr lang="en-US" sz="1600" dirty="0"/>
          </a:p>
        </p:txBody>
      </p:sp>
      <p:sp>
        <p:nvSpPr>
          <p:cNvPr id="17" name="requirement text 3"/>
          <p:cNvSpPr txBox="1"/>
          <p:nvPr/>
        </p:nvSpPr>
        <p:spPr>
          <a:xfrm>
            <a:off x="6364224" y="2926080"/>
            <a:ext cx="2048256" cy="1371600"/>
          </a:xfrm>
          <a:prstGeom prst="rect">
            <a:avLst/>
          </a:prstGeom>
          <a:noFill/>
          <a:ln/>
        </p:spPr>
        <p:txBody>
          <a:bodyPr wrap="square" lIns="0" tIns="0" rIns="0" bIns="0" rtlCol="0" anchor="t"/>
          <a:lstStyle/>
          <a:p>
            <a:r>
              <a:rPr lang="en-US" sz="1300" dirty="0">
                <a:solidFill>
                  <a:schemeClr val="tx2"/>
                </a:solidFill>
              </a:rPr>
              <a:t>This small manifest file tells Tableau where the card lives. Get the server version from your admin.</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Add the extension to a worksheet</a:t>
            </a:r>
            <a:endParaRPr lang="en-US" sz="3000" dirty="0"/>
          </a:p>
        </p:txBody>
      </p:sp>
      <p:sp>
        <p:nvSpPr>
          <p:cNvPr id="3" name="step 1"/>
          <p:cNvSpPr/>
          <p:nvPr/>
        </p:nvSpPr>
        <p:spPr>
          <a:xfrm>
            <a:off x="457200" y="1188720"/>
            <a:ext cx="347472" cy="347472"/>
          </a:xfrm>
          <a:prstGeom prst="ellipse">
            <a:avLst/>
          </a:prstGeom>
          <a:solidFill>
            <a:schemeClr val="accent1"/>
          </a:solidFill>
          <a:ln/>
        </p:spPr>
        <p:txBody>
          <a:bodyPr/>
          <a:lstStyle/>
          <a:p>
            <a:endParaRPr lang="en-US"/>
          </a:p>
        </p:txBody>
      </p:sp>
      <p:sp>
        <p:nvSpPr>
          <p:cNvPr id="4" name="step 1 label"/>
          <p:cNvSpPr txBox="1"/>
          <p:nvPr/>
        </p:nvSpPr>
        <p:spPr>
          <a:xfrm>
            <a:off x="457200" y="1188720"/>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5" name="step text 1"/>
          <p:cNvSpPr txBox="1"/>
          <p:nvPr/>
        </p:nvSpPr>
        <p:spPr>
          <a:xfrm>
            <a:off x="960120" y="1152144"/>
            <a:ext cx="3840480" cy="731520"/>
          </a:xfrm>
          <a:prstGeom prst="rect">
            <a:avLst/>
          </a:prstGeom>
          <a:noFill/>
          <a:ln/>
        </p:spPr>
        <p:txBody>
          <a:bodyPr wrap="square" lIns="0" tIns="0" rIns="0" bIns="0" rtlCol="0" anchor="t"/>
          <a:lstStyle/>
          <a:p>
            <a:pPr marL="0" indent="0">
              <a:buNone/>
            </a:pPr>
            <a:r>
              <a:rPr lang="en-US" sz="1500" b="1" dirty="0">
                <a:solidFill>
                  <a:schemeClr val="tx1"/>
                </a:solidFill>
              </a:rPr>
              <a:t>Open the mark type menu</a:t>
            </a:r>
            <a:endParaRPr lang="en-US" sz="1500" dirty="0"/>
          </a:p>
          <a:p>
            <a:pPr marL="0" indent="0">
              <a:buNone/>
            </a:pPr>
            <a:r>
              <a:rPr lang="en-US" sz="1300" dirty="0">
                <a:solidFill>
                  <a:schemeClr val="tx2"/>
                </a:solidFill>
              </a:rPr>
              <a:t>On the Marks card, click the dropdown that says Automatic.</a:t>
            </a:r>
            <a:endParaRPr lang="en-US" sz="1500" dirty="0"/>
          </a:p>
        </p:txBody>
      </p:sp>
      <p:sp>
        <p:nvSpPr>
          <p:cNvPr id="6" name="step 2"/>
          <p:cNvSpPr/>
          <p:nvPr/>
        </p:nvSpPr>
        <p:spPr>
          <a:xfrm>
            <a:off x="457200" y="2029968"/>
            <a:ext cx="347472" cy="347472"/>
          </a:xfrm>
          <a:prstGeom prst="ellipse">
            <a:avLst/>
          </a:prstGeom>
          <a:solidFill>
            <a:schemeClr val="accent1"/>
          </a:solidFill>
          <a:ln/>
        </p:spPr>
        <p:txBody>
          <a:bodyPr/>
          <a:lstStyle/>
          <a:p>
            <a:endParaRPr lang="en-US"/>
          </a:p>
        </p:txBody>
      </p:sp>
      <p:sp>
        <p:nvSpPr>
          <p:cNvPr id="7" name="step 2 label"/>
          <p:cNvSpPr txBox="1"/>
          <p:nvPr/>
        </p:nvSpPr>
        <p:spPr>
          <a:xfrm>
            <a:off x="457200" y="2029968"/>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8" name="step text 2"/>
          <p:cNvSpPr txBox="1"/>
          <p:nvPr/>
        </p:nvSpPr>
        <p:spPr>
          <a:xfrm>
            <a:off x="960120" y="1993392"/>
            <a:ext cx="3840480" cy="731520"/>
          </a:xfrm>
          <a:prstGeom prst="rect">
            <a:avLst/>
          </a:prstGeom>
          <a:noFill/>
          <a:ln/>
        </p:spPr>
        <p:txBody>
          <a:bodyPr wrap="square" lIns="0" tIns="0" rIns="0" bIns="0" rtlCol="0" anchor="t"/>
          <a:lstStyle/>
          <a:p>
            <a:pPr marL="0" indent="0">
              <a:buNone/>
            </a:pPr>
            <a:r>
              <a:rPr lang="en-US" sz="1500" b="1" dirty="0">
                <a:solidFill>
                  <a:schemeClr val="tx1"/>
                </a:solidFill>
              </a:rPr>
              <a:t>Choose Add Extension</a:t>
            </a:r>
            <a:endParaRPr lang="en-US" sz="1500" dirty="0"/>
          </a:p>
          <a:p>
            <a:pPr marL="0" indent="0">
              <a:buNone/>
            </a:pPr>
            <a:r>
              <a:rPr lang="en-US" sz="1300" dirty="0">
                <a:solidFill>
                  <a:schemeClr val="tx2"/>
                </a:solidFill>
              </a:rPr>
              <a:t>It sits at the bottom of the list, under Viz Extensions.</a:t>
            </a:r>
            <a:endParaRPr lang="en-US" sz="1500" dirty="0"/>
          </a:p>
        </p:txBody>
      </p:sp>
      <p:sp>
        <p:nvSpPr>
          <p:cNvPr id="9" name="step 3"/>
          <p:cNvSpPr/>
          <p:nvPr/>
        </p:nvSpPr>
        <p:spPr>
          <a:xfrm>
            <a:off x="457200" y="2871216"/>
            <a:ext cx="347472" cy="347472"/>
          </a:xfrm>
          <a:prstGeom prst="ellipse">
            <a:avLst/>
          </a:prstGeom>
          <a:solidFill>
            <a:schemeClr val="accent1"/>
          </a:solidFill>
          <a:ln/>
        </p:spPr>
        <p:txBody>
          <a:bodyPr/>
          <a:lstStyle/>
          <a:p>
            <a:endParaRPr lang="en-US"/>
          </a:p>
        </p:txBody>
      </p:sp>
      <p:sp>
        <p:nvSpPr>
          <p:cNvPr id="10" name="step 3 label"/>
          <p:cNvSpPr txBox="1"/>
          <p:nvPr/>
        </p:nvSpPr>
        <p:spPr>
          <a:xfrm>
            <a:off x="457200" y="2871216"/>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1" name="step text 3"/>
          <p:cNvSpPr txBox="1"/>
          <p:nvPr/>
        </p:nvSpPr>
        <p:spPr>
          <a:xfrm>
            <a:off x="960120" y="2834640"/>
            <a:ext cx="3840480" cy="731520"/>
          </a:xfrm>
          <a:prstGeom prst="rect">
            <a:avLst/>
          </a:prstGeom>
          <a:noFill/>
          <a:ln/>
        </p:spPr>
        <p:txBody>
          <a:bodyPr wrap="square" lIns="0" tIns="0" rIns="0" bIns="0" rtlCol="0" anchor="t"/>
          <a:lstStyle/>
          <a:p>
            <a:pPr marL="0" indent="0">
              <a:buNone/>
            </a:pPr>
            <a:r>
              <a:rPr lang="en-US" sz="1500" b="1" dirty="0">
                <a:solidFill>
                  <a:schemeClr val="tx1"/>
                </a:solidFill>
              </a:rPr>
              <a:t>Pick kpiCard.trex</a:t>
            </a:r>
            <a:endParaRPr lang="en-US" sz="1500" dirty="0"/>
          </a:p>
          <a:p>
            <a:pPr marL="0" indent="0">
              <a:buNone/>
            </a:pPr>
            <a:r>
              <a:rPr lang="en-US" sz="1300" dirty="0">
                <a:solidFill>
                  <a:schemeClr val="tx2"/>
                </a:solidFill>
              </a:rPr>
              <a:t>Choose </a:t>
            </a:r>
            <a:r>
              <a:rPr lang="en-US" sz="1300" b="1" dirty="0">
                <a:solidFill>
                  <a:schemeClr val="tx2"/>
                </a:solidFill>
              </a:rPr>
              <a:t>Access Local Extensions</a:t>
            </a:r>
            <a:r>
              <a:rPr lang="en-US" sz="1300" dirty="0">
                <a:solidFill>
                  <a:schemeClr val="tx2"/>
                </a:solidFill>
              </a:rPr>
              <a:t>, browse to the file and open it.</a:t>
            </a:r>
            <a:endParaRPr lang="en-US" sz="1500" dirty="0"/>
          </a:p>
        </p:txBody>
      </p:sp>
      <p:sp>
        <p:nvSpPr>
          <p:cNvPr id="12" name="step 4"/>
          <p:cNvSpPr/>
          <p:nvPr/>
        </p:nvSpPr>
        <p:spPr>
          <a:xfrm>
            <a:off x="457200" y="3712464"/>
            <a:ext cx="347472" cy="347472"/>
          </a:xfrm>
          <a:prstGeom prst="ellipse">
            <a:avLst/>
          </a:prstGeom>
          <a:solidFill>
            <a:schemeClr val="accent1"/>
          </a:solidFill>
          <a:ln/>
        </p:spPr>
        <p:txBody>
          <a:bodyPr/>
          <a:lstStyle/>
          <a:p>
            <a:endParaRPr lang="en-US"/>
          </a:p>
        </p:txBody>
      </p:sp>
      <p:sp>
        <p:nvSpPr>
          <p:cNvPr id="13" name="step 4 label"/>
          <p:cNvSpPr txBox="1"/>
          <p:nvPr/>
        </p:nvSpPr>
        <p:spPr>
          <a:xfrm>
            <a:off x="457200" y="3712464"/>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4" name="step text 4"/>
          <p:cNvSpPr txBox="1"/>
          <p:nvPr/>
        </p:nvSpPr>
        <p:spPr>
          <a:xfrm>
            <a:off x="960120" y="3675888"/>
            <a:ext cx="3840480" cy="731520"/>
          </a:xfrm>
          <a:prstGeom prst="rect">
            <a:avLst/>
          </a:prstGeom>
          <a:noFill/>
          <a:ln/>
        </p:spPr>
        <p:txBody>
          <a:bodyPr wrap="square" lIns="0" tIns="0" rIns="0" bIns="0" rtlCol="0" anchor="t"/>
          <a:lstStyle/>
          <a:p>
            <a:pPr marL="0" indent="0">
              <a:buNone/>
            </a:pPr>
            <a:r>
              <a:rPr lang="en-US" sz="1500" b="1" dirty="0">
                <a:solidFill>
                  <a:schemeClr val="tx1"/>
                </a:solidFill>
              </a:rPr>
              <a:t>Allow it if asked</a:t>
            </a:r>
            <a:endParaRPr lang="en-US" sz="1500" dirty="0"/>
          </a:p>
          <a:p>
            <a:pPr marL="0" indent="0">
              <a:buNone/>
            </a:pPr>
            <a:r>
              <a:rPr lang="en-US" sz="1300" dirty="0">
                <a:solidFill>
                  <a:schemeClr val="tx2"/>
                </a:solidFill>
              </a:rPr>
              <a:t>The card appears with a hint telling you which fields to drag.</a:t>
            </a:r>
            <a:endParaRPr lang="en-US" sz="1500" dirty="0"/>
          </a:p>
        </p:txBody>
      </p:sp>
      <p:sp>
        <p:nvSpPr>
          <p:cNvPr id="30"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4</a:t>
            </a:fld>
            <a:endParaRPr lang="en-US"/>
          </a:p>
        </p:txBody>
      </p:sp>
      <p:pic>
        <p:nvPicPr>
          <p:cNvPr id="31" name="Picture 30">
            <a:extLst>
              <a:ext uri="{FF2B5EF4-FFF2-40B4-BE49-F238E27FC236}">
                <a16:creationId xmlns:a16="http://schemas.microsoft.com/office/drawing/2014/main" id="{14BB7752-8DCB-CE65-8B47-54E860BE44B4}"/>
              </a:ext>
            </a:extLst>
          </p:cNvPr>
          <p:cNvPicPr>
            <a:picLocks noChangeAspect="1"/>
          </p:cNvPicPr>
          <p:nvPr/>
        </p:nvPicPr>
        <p:blipFill>
          <a:blip r:embed="rId3"/>
          <a:stretch>
            <a:fillRect/>
          </a:stretch>
        </p:blipFill>
        <p:spPr>
          <a:xfrm>
            <a:off x="4931904" y="1152144"/>
            <a:ext cx="1259049" cy="1185909"/>
          </a:xfrm>
          <a:prstGeom prst="rect">
            <a:avLst/>
          </a:prstGeom>
        </p:spPr>
      </p:pic>
      <p:pic>
        <p:nvPicPr>
          <p:cNvPr id="32" name="Picture 31">
            <a:extLst>
              <a:ext uri="{FF2B5EF4-FFF2-40B4-BE49-F238E27FC236}">
                <a16:creationId xmlns:a16="http://schemas.microsoft.com/office/drawing/2014/main" id="{0EA9A6E4-4183-513A-A486-5A056ED460C0}"/>
              </a:ext>
            </a:extLst>
          </p:cNvPr>
          <p:cNvPicPr>
            <a:picLocks noChangeAspect="1"/>
          </p:cNvPicPr>
          <p:nvPr/>
        </p:nvPicPr>
        <p:blipFill>
          <a:blip r:embed="rId4"/>
          <a:stretch>
            <a:fillRect/>
          </a:stretch>
        </p:blipFill>
        <p:spPr>
          <a:xfrm>
            <a:off x="6190953" y="1152144"/>
            <a:ext cx="1255986" cy="2278421"/>
          </a:xfrm>
          <a:prstGeom prst="rect">
            <a:avLst/>
          </a:prstGeom>
        </p:spPr>
      </p:pic>
      <p:sp>
        <p:nvSpPr>
          <p:cNvPr id="36" name="step 2">
            <a:extLst>
              <a:ext uri="{FF2B5EF4-FFF2-40B4-BE49-F238E27FC236}">
                <a16:creationId xmlns:a16="http://schemas.microsoft.com/office/drawing/2014/main" id="{CE3964BB-5F57-DBC3-4D31-04772D701E36}"/>
              </a:ext>
            </a:extLst>
          </p:cNvPr>
          <p:cNvSpPr/>
          <p:nvPr/>
        </p:nvSpPr>
        <p:spPr>
          <a:xfrm>
            <a:off x="6059649" y="3197656"/>
            <a:ext cx="235537" cy="232909"/>
          </a:xfrm>
          <a:prstGeom prst="ellipse">
            <a:avLst/>
          </a:prstGeom>
          <a:solidFill>
            <a:schemeClr val="accent1"/>
          </a:solidFill>
          <a:ln/>
        </p:spPr>
        <p:txBody>
          <a:bodyPr/>
          <a:lstStyle/>
          <a:p>
            <a:endParaRPr lang="en-US"/>
          </a:p>
        </p:txBody>
      </p:sp>
      <p:sp>
        <p:nvSpPr>
          <p:cNvPr id="37" name="step 2 label">
            <a:extLst>
              <a:ext uri="{FF2B5EF4-FFF2-40B4-BE49-F238E27FC236}">
                <a16:creationId xmlns:a16="http://schemas.microsoft.com/office/drawing/2014/main" id="{931415A9-5009-A38F-150E-53C698DE6BE5}"/>
              </a:ext>
            </a:extLst>
          </p:cNvPr>
          <p:cNvSpPr txBox="1"/>
          <p:nvPr/>
        </p:nvSpPr>
        <p:spPr>
          <a:xfrm>
            <a:off x="6059649" y="3197656"/>
            <a:ext cx="235537" cy="232909"/>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38" name="step 1">
            <a:extLst>
              <a:ext uri="{FF2B5EF4-FFF2-40B4-BE49-F238E27FC236}">
                <a16:creationId xmlns:a16="http://schemas.microsoft.com/office/drawing/2014/main" id="{C6613457-DD1F-2FE3-A88F-4A7D4471E183}"/>
              </a:ext>
            </a:extLst>
          </p:cNvPr>
          <p:cNvSpPr/>
          <p:nvPr/>
        </p:nvSpPr>
        <p:spPr>
          <a:xfrm>
            <a:off x="4792716" y="1303283"/>
            <a:ext cx="234171" cy="232909"/>
          </a:xfrm>
          <a:prstGeom prst="ellipse">
            <a:avLst/>
          </a:prstGeom>
          <a:solidFill>
            <a:schemeClr val="accent1"/>
          </a:solidFill>
          <a:ln/>
        </p:spPr>
        <p:txBody>
          <a:bodyPr/>
          <a:lstStyle/>
          <a:p>
            <a:endParaRPr lang="en-US"/>
          </a:p>
        </p:txBody>
      </p:sp>
      <p:sp>
        <p:nvSpPr>
          <p:cNvPr id="39" name="step 1 label">
            <a:extLst>
              <a:ext uri="{FF2B5EF4-FFF2-40B4-BE49-F238E27FC236}">
                <a16:creationId xmlns:a16="http://schemas.microsoft.com/office/drawing/2014/main" id="{EDE41BE5-A1FC-3332-CA4F-E1A587EE0E19}"/>
              </a:ext>
            </a:extLst>
          </p:cNvPr>
          <p:cNvSpPr txBox="1"/>
          <p:nvPr/>
        </p:nvSpPr>
        <p:spPr>
          <a:xfrm>
            <a:off x="4792716" y="1303283"/>
            <a:ext cx="234171" cy="232909"/>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pic>
        <p:nvPicPr>
          <p:cNvPr id="40" name="Picture 39">
            <a:extLst>
              <a:ext uri="{FF2B5EF4-FFF2-40B4-BE49-F238E27FC236}">
                <a16:creationId xmlns:a16="http://schemas.microsoft.com/office/drawing/2014/main" id="{6F54C017-2524-7A2A-ADD1-16CADBC6AFDD}"/>
              </a:ext>
            </a:extLst>
          </p:cNvPr>
          <p:cNvPicPr>
            <a:picLocks noChangeAspect="1"/>
          </p:cNvPicPr>
          <p:nvPr/>
        </p:nvPicPr>
        <p:blipFill>
          <a:blip r:embed="rId5"/>
          <a:srcRect r="69951"/>
          <a:stretch>
            <a:fillRect/>
          </a:stretch>
        </p:blipFill>
        <p:spPr>
          <a:xfrm>
            <a:off x="7672552" y="1103018"/>
            <a:ext cx="1114096" cy="1780747"/>
          </a:xfrm>
          <a:prstGeom prst="rect">
            <a:avLst/>
          </a:prstGeom>
        </p:spPr>
      </p:pic>
      <p:sp>
        <p:nvSpPr>
          <p:cNvPr id="41" name="step 2">
            <a:extLst>
              <a:ext uri="{FF2B5EF4-FFF2-40B4-BE49-F238E27FC236}">
                <a16:creationId xmlns:a16="http://schemas.microsoft.com/office/drawing/2014/main" id="{C8DA8C64-FB54-0C7A-9E4C-C3111BA8C208}"/>
              </a:ext>
            </a:extLst>
          </p:cNvPr>
          <p:cNvSpPr/>
          <p:nvPr/>
        </p:nvSpPr>
        <p:spPr>
          <a:xfrm>
            <a:off x="7460474" y="2381633"/>
            <a:ext cx="235537" cy="232909"/>
          </a:xfrm>
          <a:prstGeom prst="ellipse">
            <a:avLst/>
          </a:prstGeom>
          <a:solidFill>
            <a:schemeClr val="accent1"/>
          </a:solidFill>
          <a:ln/>
        </p:spPr>
        <p:txBody>
          <a:bodyPr/>
          <a:lstStyle/>
          <a:p>
            <a:endParaRPr lang="en-US"/>
          </a:p>
        </p:txBody>
      </p:sp>
      <p:sp>
        <p:nvSpPr>
          <p:cNvPr id="42" name="step 2 label">
            <a:extLst>
              <a:ext uri="{FF2B5EF4-FFF2-40B4-BE49-F238E27FC236}">
                <a16:creationId xmlns:a16="http://schemas.microsoft.com/office/drawing/2014/main" id="{EA41E021-3D20-37DA-2736-8B59118391E1}"/>
              </a:ext>
            </a:extLst>
          </p:cNvPr>
          <p:cNvSpPr txBox="1"/>
          <p:nvPr/>
        </p:nvSpPr>
        <p:spPr>
          <a:xfrm>
            <a:off x="7460474" y="2381633"/>
            <a:ext cx="235537" cy="232909"/>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Fill four tiles on the Marks card</a:t>
            </a:r>
            <a:endParaRPr lang="en-US" sz="3000" dirty="0"/>
          </a:p>
        </p:txBody>
      </p:sp>
      <p:sp>
        <p:nvSpPr>
          <p:cNvPr id="3" name="Marks card"/>
          <p:cNvSpPr/>
          <p:nvPr/>
        </p:nvSpPr>
        <p:spPr>
          <a:xfrm>
            <a:off x="457200" y="1143000"/>
            <a:ext cx="2971800" cy="3337560"/>
          </a:xfrm>
          <a:prstGeom prst="roundRect">
            <a:avLst>
              <a:gd name="adj" fmla="val 1538"/>
            </a:avLst>
          </a:prstGeom>
          <a:solidFill>
            <a:schemeClr val="bg1"/>
          </a:solidFill>
          <a:ln w="12700">
            <a:solidFill>
              <a:schemeClr val="accent5"/>
            </a:solidFill>
            <a:prstDash val="solid"/>
          </a:ln>
          <a:effectLst>
            <a:outerShdw blurRad="101600" dist="25400" dir="5400000" algn="bl" rotWithShape="0">
              <a:srgbClr val="000000">
                <a:alpha val="16000"/>
              </a:srgbClr>
            </a:outerShdw>
          </a:effectLst>
        </p:spPr>
        <p:txBody>
          <a:bodyPr/>
          <a:lstStyle/>
          <a:p>
            <a:endParaRPr lang="en-US"/>
          </a:p>
        </p:txBody>
      </p:sp>
      <p:sp>
        <p:nvSpPr>
          <p:cNvPr id="4" name="Marks heading"/>
          <p:cNvSpPr txBox="1"/>
          <p:nvPr/>
        </p:nvSpPr>
        <p:spPr>
          <a:xfrm>
            <a:off x="594360" y="1216152"/>
            <a:ext cx="2697480" cy="274320"/>
          </a:xfrm>
          <a:prstGeom prst="rect">
            <a:avLst/>
          </a:prstGeom>
          <a:noFill/>
          <a:ln/>
        </p:spPr>
        <p:txBody>
          <a:bodyPr wrap="square" lIns="0" tIns="0" rIns="0" bIns="0" rtlCol="0" anchor="ctr"/>
          <a:lstStyle/>
          <a:p>
            <a:pPr marL="0" indent="0">
              <a:buNone/>
            </a:pPr>
            <a:r>
              <a:rPr lang="en-US" sz="1200" b="1" dirty="0">
                <a:solidFill>
                  <a:schemeClr val="tx1"/>
                </a:solidFill>
              </a:rPr>
              <a:t>Marks</a:t>
            </a:r>
            <a:endParaRPr lang="en-US" sz="1200" dirty="0"/>
          </a:p>
        </p:txBody>
      </p:sp>
      <p:sp>
        <p:nvSpPr>
          <p:cNvPr id="5" name="Mark type dropdown"/>
          <p:cNvSpPr/>
          <p:nvPr/>
        </p:nvSpPr>
        <p:spPr>
          <a:xfrm>
            <a:off x="594360" y="1527048"/>
            <a:ext cx="2697480" cy="292608"/>
          </a:xfrm>
          <a:prstGeom prst="rect">
            <a:avLst/>
          </a:prstGeom>
          <a:solidFill>
            <a:schemeClr val="bg2"/>
          </a:solidFill>
          <a:ln w="9525">
            <a:solidFill>
              <a:schemeClr val="accent5"/>
            </a:solidFill>
            <a:prstDash val="solid"/>
          </a:ln>
        </p:spPr>
        <p:txBody>
          <a:bodyPr/>
          <a:lstStyle/>
          <a:p>
            <a:endParaRPr lang="en-US"/>
          </a:p>
        </p:txBody>
      </p:sp>
      <p:sp>
        <p:nvSpPr>
          <p:cNvPr id="6" name="Mark type text"/>
          <p:cNvSpPr txBox="1"/>
          <p:nvPr/>
        </p:nvSpPr>
        <p:spPr>
          <a:xfrm>
            <a:off x="685800" y="1527048"/>
            <a:ext cx="2514600" cy="292608"/>
          </a:xfrm>
          <a:prstGeom prst="rect">
            <a:avLst/>
          </a:prstGeom>
          <a:noFill/>
          <a:ln/>
        </p:spPr>
        <p:txBody>
          <a:bodyPr wrap="square" lIns="0" tIns="0" rIns="0" bIns="0" rtlCol="0" anchor="ctr"/>
          <a:lstStyle/>
          <a:p>
            <a:pPr marL="0" indent="0">
              <a:buNone/>
            </a:pPr>
            <a:r>
              <a:rPr lang="en-US" sz="1100" dirty="0">
                <a:solidFill>
                  <a:schemeClr val="tx1"/>
                </a:solidFill>
              </a:rPr>
              <a:t>Waterfall</a:t>
            </a:r>
            <a:r>
              <a:rPr lang="en-US" sz="1100" dirty="0">
                <a:solidFill>
                  <a:schemeClr val="tx2"/>
                </a:solidFill>
              </a:rPr>
              <a:t>   ▾</a:t>
            </a:r>
            <a:endParaRPr lang="en-US" sz="1100" dirty="0"/>
          </a:p>
        </p:txBody>
      </p:sp>
      <p:sp>
        <p:nvSpPr>
          <p:cNvPr id="7" name="Start tile"/>
          <p:cNvSpPr txBox="1"/>
          <p:nvPr/>
        </p:nvSpPr>
        <p:spPr>
          <a:xfrm>
            <a:off x="594360" y="1965960"/>
            <a:ext cx="914400" cy="237744"/>
          </a:xfrm>
          <a:prstGeom prst="rect">
            <a:avLst/>
          </a:prstGeom>
          <a:noFill/>
          <a:ln/>
        </p:spPr>
        <p:txBody>
          <a:bodyPr wrap="square" lIns="0" tIns="0" rIns="0" bIns="0" rtlCol="0" anchor="ctr"/>
          <a:lstStyle/>
          <a:p>
            <a:pPr marL="0" indent="0">
              <a:buNone/>
            </a:pPr>
            <a:r>
              <a:rPr lang="en-US" sz="1100" b="1" dirty="0">
                <a:solidFill>
                  <a:schemeClr val="tx1"/>
                </a:solidFill>
              </a:rPr>
              <a:t>Start</a:t>
            </a:r>
            <a:endParaRPr lang="en-US" sz="1100" dirty="0"/>
          </a:p>
        </p:txBody>
      </p:sp>
      <p:sp>
        <p:nvSpPr>
          <p:cNvPr id="8" name="Start pill"/>
          <p:cNvSpPr/>
          <p:nvPr/>
        </p:nvSpPr>
        <p:spPr>
          <a:xfrm>
            <a:off x="1508760" y="1965960"/>
            <a:ext cx="1783080" cy="237744"/>
          </a:xfrm>
          <a:prstGeom prst="roundRect">
            <a:avLst>
              <a:gd name="adj" fmla="val 50000"/>
            </a:avLst>
          </a:prstGeom>
          <a:solidFill>
            <a:schemeClr val="accent2"/>
          </a:solidFill>
          <a:ln/>
        </p:spPr>
        <p:txBody>
          <a:bodyPr/>
          <a:lstStyle/>
          <a:p>
            <a:endParaRPr lang="en-US"/>
          </a:p>
        </p:txBody>
      </p:sp>
      <p:sp>
        <p:nvSpPr>
          <p:cNvPr id="9" name="Start pill text"/>
          <p:cNvSpPr txBox="1"/>
          <p:nvPr/>
        </p:nvSpPr>
        <p:spPr>
          <a:xfrm>
            <a:off x="1508760" y="1965960"/>
            <a:ext cx="1783080" cy="237744"/>
          </a:xfrm>
          <a:prstGeom prst="rect">
            <a:avLst/>
          </a:prstGeom>
          <a:noFill/>
          <a:ln/>
        </p:spPr>
        <p:txBody>
          <a:bodyPr wrap="square" lIns="0" tIns="0" rIns="0" bIns="0" rtlCol="0" anchor="ctr"/>
          <a:lstStyle/>
          <a:p>
            <a:pPr marL="0" indent="0" algn="ctr">
              <a:buNone/>
            </a:pPr>
            <a:r>
              <a:rPr lang="en-US" sz="950" b="1" dirty="0">
                <a:solidFill>
                  <a:schemeClr val="bg1"/>
                </a:solidFill>
              </a:rPr>
              <a:t>SUM(Opening Balance)</a:t>
            </a:r>
            <a:endParaRPr lang="en-US" sz="950" dirty="0"/>
          </a:p>
        </p:txBody>
      </p:sp>
      <p:sp>
        <p:nvSpPr>
          <p:cNvPr id="10" name="Changes tile"/>
          <p:cNvSpPr txBox="1"/>
          <p:nvPr/>
        </p:nvSpPr>
        <p:spPr>
          <a:xfrm>
            <a:off x="594360" y="2331720"/>
            <a:ext cx="914400" cy="237744"/>
          </a:xfrm>
          <a:prstGeom prst="rect">
            <a:avLst/>
          </a:prstGeom>
          <a:noFill/>
          <a:ln/>
        </p:spPr>
        <p:txBody>
          <a:bodyPr wrap="square" lIns="0" tIns="0" rIns="0" bIns="0" rtlCol="0" anchor="ctr"/>
          <a:lstStyle/>
          <a:p>
            <a:pPr marL="0" indent="0">
              <a:buNone/>
            </a:pPr>
            <a:r>
              <a:rPr lang="en-US" sz="1100" b="1" dirty="0">
                <a:solidFill>
                  <a:schemeClr val="tx1"/>
                </a:solidFill>
              </a:rPr>
              <a:t>Changes</a:t>
            </a:r>
            <a:endParaRPr lang="en-US" sz="1100" dirty="0"/>
          </a:p>
        </p:txBody>
      </p:sp>
      <p:sp>
        <p:nvSpPr>
          <p:cNvPr id="11" name="Change 1 pill"/>
          <p:cNvSpPr/>
          <p:nvPr/>
        </p:nvSpPr>
        <p:spPr>
          <a:xfrm>
            <a:off x="1508760" y="2331720"/>
            <a:ext cx="1783080" cy="237744"/>
          </a:xfrm>
          <a:prstGeom prst="roundRect">
            <a:avLst>
              <a:gd name="adj" fmla="val 50000"/>
            </a:avLst>
          </a:prstGeom>
          <a:solidFill>
            <a:schemeClr val="accent2"/>
          </a:solidFill>
          <a:ln/>
        </p:spPr>
        <p:txBody>
          <a:bodyPr/>
          <a:lstStyle/>
          <a:p>
            <a:endParaRPr lang="en-US"/>
          </a:p>
        </p:txBody>
      </p:sp>
      <p:sp>
        <p:nvSpPr>
          <p:cNvPr id="12" name="Change 1 pill text"/>
          <p:cNvSpPr txBox="1"/>
          <p:nvPr/>
        </p:nvSpPr>
        <p:spPr>
          <a:xfrm>
            <a:off x="1508760" y="2331720"/>
            <a:ext cx="1783080" cy="237744"/>
          </a:xfrm>
          <a:prstGeom prst="rect">
            <a:avLst/>
          </a:prstGeom>
          <a:noFill/>
          <a:ln/>
        </p:spPr>
        <p:txBody>
          <a:bodyPr wrap="square" lIns="0" tIns="0" rIns="0" bIns="0" rtlCol="0" anchor="ctr"/>
          <a:lstStyle/>
          <a:p>
            <a:pPr marL="0" indent="0" algn="ctr">
              <a:buNone/>
            </a:pPr>
            <a:r>
              <a:rPr lang="en-US" sz="950" b="1" dirty="0">
                <a:solidFill>
                  <a:schemeClr val="bg1"/>
                </a:solidFill>
              </a:rPr>
              <a:t>SUM(Bank In)</a:t>
            </a:r>
            <a:endParaRPr lang="en-US" sz="950" dirty="0"/>
          </a:p>
        </p:txBody>
      </p:sp>
      <p:sp>
        <p:nvSpPr>
          <p:cNvPr id="13" name="Change 2 pill"/>
          <p:cNvSpPr/>
          <p:nvPr/>
        </p:nvSpPr>
        <p:spPr>
          <a:xfrm>
            <a:off x="1508760" y="2624328"/>
            <a:ext cx="1783080" cy="237744"/>
          </a:xfrm>
          <a:prstGeom prst="roundRect">
            <a:avLst>
              <a:gd name="adj" fmla="val 50000"/>
            </a:avLst>
          </a:prstGeom>
          <a:solidFill>
            <a:schemeClr val="accent2"/>
          </a:solidFill>
          <a:ln/>
        </p:spPr>
        <p:txBody>
          <a:bodyPr/>
          <a:lstStyle/>
          <a:p>
            <a:endParaRPr lang="en-US"/>
          </a:p>
        </p:txBody>
      </p:sp>
      <p:sp>
        <p:nvSpPr>
          <p:cNvPr id="14" name="Change 2 pill text"/>
          <p:cNvSpPr txBox="1"/>
          <p:nvPr/>
        </p:nvSpPr>
        <p:spPr>
          <a:xfrm>
            <a:off x="1508760" y="2624328"/>
            <a:ext cx="1783080" cy="237744"/>
          </a:xfrm>
          <a:prstGeom prst="rect">
            <a:avLst/>
          </a:prstGeom>
          <a:noFill/>
          <a:ln/>
        </p:spPr>
        <p:txBody>
          <a:bodyPr wrap="square" lIns="0" tIns="0" rIns="0" bIns="0" rtlCol="0" anchor="ctr"/>
          <a:lstStyle/>
          <a:p>
            <a:pPr marL="0" indent="0" algn="ctr">
              <a:buNone/>
            </a:pPr>
            <a:r>
              <a:rPr lang="en-US" sz="950" b="1" dirty="0">
                <a:solidFill>
                  <a:schemeClr val="bg1"/>
                </a:solidFill>
              </a:rPr>
              <a:t>SUM(Wallet In)</a:t>
            </a:r>
            <a:endParaRPr lang="en-US" sz="950" dirty="0"/>
          </a:p>
        </p:txBody>
      </p:sp>
      <p:sp>
        <p:nvSpPr>
          <p:cNvPr id="15" name="Change 3 pill"/>
          <p:cNvSpPr/>
          <p:nvPr/>
        </p:nvSpPr>
        <p:spPr>
          <a:xfrm>
            <a:off x="1508760" y="2916936"/>
            <a:ext cx="1783080" cy="237744"/>
          </a:xfrm>
          <a:prstGeom prst="roundRect">
            <a:avLst>
              <a:gd name="adj" fmla="val 50000"/>
            </a:avLst>
          </a:prstGeom>
          <a:solidFill>
            <a:schemeClr val="accent2"/>
          </a:solidFill>
          <a:ln/>
        </p:spPr>
        <p:txBody>
          <a:bodyPr/>
          <a:lstStyle/>
          <a:p>
            <a:endParaRPr lang="en-US"/>
          </a:p>
        </p:txBody>
      </p:sp>
      <p:sp>
        <p:nvSpPr>
          <p:cNvPr id="16" name="Change 3 pill text"/>
          <p:cNvSpPr txBox="1"/>
          <p:nvPr/>
        </p:nvSpPr>
        <p:spPr>
          <a:xfrm>
            <a:off x="1508760" y="2916936"/>
            <a:ext cx="1783080" cy="237744"/>
          </a:xfrm>
          <a:prstGeom prst="rect">
            <a:avLst/>
          </a:prstGeom>
          <a:noFill/>
          <a:ln/>
        </p:spPr>
        <p:txBody>
          <a:bodyPr wrap="square" lIns="0" tIns="0" rIns="0" bIns="0" rtlCol="0" anchor="ctr"/>
          <a:lstStyle/>
          <a:p>
            <a:pPr marL="0" indent="0" algn="ctr">
              <a:buNone/>
            </a:pPr>
            <a:r>
              <a:rPr lang="en-US" sz="950" b="1" dirty="0">
                <a:solidFill>
                  <a:schemeClr val="bg1"/>
                </a:solidFill>
              </a:rPr>
              <a:t>SUM(Other Bank Out)</a:t>
            </a:r>
            <a:endParaRPr lang="en-US" sz="950" dirty="0"/>
          </a:p>
        </p:txBody>
      </p:sp>
      <p:sp>
        <p:nvSpPr>
          <p:cNvPr id="17" name="more changes"/>
          <p:cNvSpPr txBox="1"/>
          <p:nvPr/>
        </p:nvSpPr>
        <p:spPr>
          <a:xfrm>
            <a:off x="1508760" y="3209544"/>
            <a:ext cx="1783080" cy="201168"/>
          </a:xfrm>
          <a:prstGeom prst="rect">
            <a:avLst/>
          </a:prstGeom>
          <a:noFill/>
          <a:ln/>
        </p:spPr>
        <p:txBody>
          <a:bodyPr wrap="square" lIns="0" tIns="0" rIns="0" bIns="0" rtlCol="0" anchor="ctr"/>
          <a:lstStyle/>
          <a:p>
            <a:pPr marL="0" indent="0" algn="ctr">
              <a:buNone/>
            </a:pPr>
            <a:r>
              <a:rPr lang="en-US" sz="900" i="1" dirty="0">
                <a:solidFill>
                  <a:schemeClr val="tx2"/>
                </a:solidFill>
              </a:rPr>
              <a:t>+ 8 more, one pill each</a:t>
            </a:r>
            <a:endParaRPr lang="en-US" sz="900" dirty="0"/>
          </a:p>
        </p:txBody>
      </p:sp>
      <p:sp>
        <p:nvSpPr>
          <p:cNvPr id="18" name="End tile"/>
          <p:cNvSpPr txBox="1"/>
          <p:nvPr/>
        </p:nvSpPr>
        <p:spPr>
          <a:xfrm>
            <a:off x="594360" y="3474720"/>
            <a:ext cx="914400" cy="237744"/>
          </a:xfrm>
          <a:prstGeom prst="rect">
            <a:avLst/>
          </a:prstGeom>
          <a:noFill/>
          <a:ln/>
        </p:spPr>
        <p:txBody>
          <a:bodyPr wrap="square" lIns="0" tIns="0" rIns="0" bIns="0" rtlCol="0" anchor="ctr"/>
          <a:lstStyle/>
          <a:p>
            <a:pPr marL="0" indent="0">
              <a:buNone/>
            </a:pPr>
            <a:r>
              <a:rPr lang="en-US" sz="1100" b="1" dirty="0">
                <a:solidFill>
                  <a:schemeClr val="tx1"/>
                </a:solidFill>
              </a:rPr>
              <a:t>End</a:t>
            </a:r>
            <a:endParaRPr lang="en-US" sz="1100" dirty="0"/>
          </a:p>
        </p:txBody>
      </p:sp>
      <p:sp>
        <p:nvSpPr>
          <p:cNvPr id="19" name="End pill"/>
          <p:cNvSpPr/>
          <p:nvPr/>
        </p:nvSpPr>
        <p:spPr>
          <a:xfrm>
            <a:off x="1508760" y="3474720"/>
            <a:ext cx="1783080" cy="237744"/>
          </a:xfrm>
          <a:prstGeom prst="roundRect">
            <a:avLst>
              <a:gd name="adj" fmla="val 50000"/>
            </a:avLst>
          </a:prstGeom>
          <a:solidFill>
            <a:schemeClr val="accent2"/>
          </a:solidFill>
          <a:ln/>
        </p:spPr>
        <p:txBody>
          <a:bodyPr/>
          <a:lstStyle/>
          <a:p>
            <a:endParaRPr lang="en-US"/>
          </a:p>
        </p:txBody>
      </p:sp>
      <p:sp>
        <p:nvSpPr>
          <p:cNvPr id="20" name="End pill text"/>
          <p:cNvSpPr txBox="1"/>
          <p:nvPr/>
        </p:nvSpPr>
        <p:spPr>
          <a:xfrm>
            <a:off x="1508760" y="3474720"/>
            <a:ext cx="1783080" cy="237744"/>
          </a:xfrm>
          <a:prstGeom prst="rect">
            <a:avLst/>
          </a:prstGeom>
          <a:noFill/>
          <a:ln/>
        </p:spPr>
        <p:txBody>
          <a:bodyPr wrap="square" lIns="0" tIns="0" rIns="0" bIns="0" rtlCol="0" anchor="ctr"/>
          <a:lstStyle/>
          <a:p>
            <a:pPr marL="0" indent="0" algn="ctr">
              <a:buNone/>
            </a:pPr>
            <a:r>
              <a:rPr lang="en-US" sz="950" b="1" dirty="0">
                <a:solidFill>
                  <a:schemeClr val="bg1"/>
                </a:solidFill>
              </a:rPr>
              <a:t>SUM(Closing Balance)</a:t>
            </a:r>
            <a:endParaRPr lang="en-US" sz="950" dirty="0"/>
          </a:p>
        </p:txBody>
      </p:sp>
      <p:sp>
        <p:nvSpPr>
          <p:cNvPr id="21" name="Breakdown tile"/>
          <p:cNvSpPr txBox="1"/>
          <p:nvPr/>
        </p:nvSpPr>
        <p:spPr>
          <a:xfrm>
            <a:off x="594360" y="3840480"/>
            <a:ext cx="914400" cy="237744"/>
          </a:xfrm>
          <a:prstGeom prst="rect">
            <a:avLst/>
          </a:prstGeom>
          <a:noFill/>
          <a:ln/>
        </p:spPr>
        <p:txBody>
          <a:bodyPr wrap="square" lIns="0" tIns="0" rIns="0" bIns="0" rtlCol="0" anchor="ctr"/>
          <a:lstStyle/>
          <a:p>
            <a:pPr marL="0" indent="0">
              <a:buNone/>
            </a:pPr>
            <a:r>
              <a:rPr lang="en-US" sz="1100" b="1" dirty="0">
                <a:solidFill>
                  <a:schemeClr val="tx1"/>
                </a:solidFill>
              </a:rPr>
              <a:t>Breakdown</a:t>
            </a:r>
            <a:endParaRPr lang="en-US" sz="1100" dirty="0"/>
          </a:p>
        </p:txBody>
      </p:sp>
      <p:sp>
        <p:nvSpPr>
          <p:cNvPr id="22" name="Breakdown pill"/>
          <p:cNvSpPr/>
          <p:nvPr/>
        </p:nvSpPr>
        <p:spPr>
          <a:xfrm>
            <a:off x="1508760" y="3840480"/>
            <a:ext cx="1783080" cy="237744"/>
          </a:xfrm>
          <a:prstGeom prst="roundRect">
            <a:avLst>
              <a:gd name="adj" fmla="val 50000"/>
            </a:avLst>
          </a:prstGeom>
          <a:solidFill>
            <a:schemeClr val="accent4"/>
          </a:solidFill>
          <a:ln/>
        </p:spPr>
        <p:txBody>
          <a:bodyPr/>
          <a:lstStyle/>
          <a:p>
            <a:endParaRPr lang="en-US"/>
          </a:p>
        </p:txBody>
      </p:sp>
      <p:sp>
        <p:nvSpPr>
          <p:cNvPr id="23" name="Breakdown pill text"/>
          <p:cNvSpPr txBox="1"/>
          <p:nvPr/>
        </p:nvSpPr>
        <p:spPr>
          <a:xfrm>
            <a:off x="1508760" y="3840480"/>
            <a:ext cx="1783080" cy="237744"/>
          </a:xfrm>
          <a:prstGeom prst="rect">
            <a:avLst/>
          </a:prstGeom>
          <a:noFill/>
          <a:ln/>
        </p:spPr>
        <p:txBody>
          <a:bodyPr wrap="square" lIns="0" tIns="0" rIns="0" bIns="0" rtlCol="0" anchor="ctr"/>
          <a:lstStyle/>
          <a:p>
            <a:pPr marL="0" indent="0" algn="ctr">
              <a:buNone/>
            </a:pPr>
            <a:r>
              <a:rPr lang="en-US" sz="950" b="1" dirty="0">
                <a:solidFill>
                  <a:schemeClr val="bg1"/>
                </a:solidFill>
              </a:rPr>
              <a:t>Account Type</a:t>
            </a:r>
            <a:endParaRPr lang="en-US" sz="950" dirty="0"/>
          </a:p>
        </p:txBody>
      </p:sp>
      <p:sp>
        <p:nvSpPr>
          <p:cNvPr id="24" name="tile rules"/>
          <p:cNvSpPr txBox="1"/>
          <p:nvPr/>
        </p:nvSpPr>
        <p:spPr>
          <a:xfrm>
            <a:off x="3794760" y="1188720"/>
            <a:ext cx="4892040" cy="2011680"/>
          </a:xfrm>
          <a:prstGeom prst="rect">
            <a:avLst/>
          </a:prstGeom>
          <a:noFill/>
          <a:ln/>
        </p:spPr>
        <p:txBody>
          <a:bodyPr wrap="square" lIns="0" tIns="0" rIns="0" bIns="0" rtlCol="0" anchor="t"/>
          <a:lstStyle/>
          <a:p>
            <a:pPr marL="177800" indent="-177800">
              <a:spcAft>
                <a:spcPts val="1000"/>
              </a:spcAft>
              <a:buSzPct val="100000"/>
              <a:buChar char="•"/>
            </a:pPr>
            <a:r>
              <a:rPr lang="en-US" sz="1400" b="1" dirty="0">
                <a:solidFill>
                  <a:schemeClr val="tx1"/>
                </a:solidFill>
              </a:rPr>
              <a:t>Start  </a:t>
            </a:r>
            <a:r>
              <a:rPr lang="en-US" sz="1400" dirty="0">
                <a:solidFill>
                  <a:schemeClr val="tx2"/>
                </a:solidFill>
              </a:rPr>
              <a:t>one measure, the opening value.</a:t>
            </a:r>
            <a:endParaRPr lang="en-US" sz="1400" dirty="0"/>
          </a:p>
          <a:p>
            <a:pPr marL="177800" indent="-177800">
              <a:spcAft>
                <a:spcPts val="1000"/>
              </a:spcAft>
              <a:buSzPct val="100000"/>
              <a:buChar char="•"/>
            </a:pPr>
            <a:r>
              <a:rPr lang="en-US" sz="1400" b="1" dirty="0">
                <a:solidFill>
                  <a:schemeClr val="tx1"/>
                </a:solidFill>
              </a:rPr>
              <a:t>Changes  </a:t>
            </a:r>
            <a:r>
              <a:rPr lang="en-US" sz="1400" dirty="0">
                <a:solidFill>
                  <a:schemeClr val="tx2"/>
                </a:solidFill>
              </a:rPr>
              <a:t>drop each measure separately, up to 30. Bars follow the order of the pills; drag a pill to reorder.</a:t>
            </a:r>
            <a:endParaRPr lang="en-US" sz="1400" dirty="0"/>
          </a:p>
          <a:p>
            <a:pPr marL="177800" indent="-177800">
              <a:spcAft>
                <a:spcPts val="1000"/>
              </a:spcAft>
              <a:buSzPct val="100000"/>
              <a:buChar char="•"/>
            </a:pPr>
            <a:r>
              <a:rPr lang="en-US" sz="1400" b="1" dirty="0">
                <a:solidFill>
                  <a:schemeClr val="tx1"/>
                </a:solidFill>
              </a:rPr>
              <a:t>End  </a:t>
            </a:r>
            <a:r>
              <a:rPr lang="en-US" sz="1400" dirty="0">
                <a:solidFill>
                  <a:schemeClr val="tx2"/>
                </a:solidFill>
              </a:rPr>
              <a:t>optional. Leave it empty and End = Start + changes.</a:t>
            </a:r>
            <a:endParaRPr lang="en-US" sz="1400" dirty="0"/>
          </a:p>
          <a:p>
            <a:pPr marL="177800" indent="-177800">
              <a:spcAft>
                <a:spcPts val="1000"/>
              </a:spcAft>
              <a:buSzPct val="100000"/>
              <a:buChar char="•"/>
            </a:pPr>
            <a:r>
              <a:rPr lang="en-US" sz="1400" b="1" dirty="0">
                <a:solidFill>
                  <a:schemeClr val="tx1"/>
                </a:solidFill>
              </a:rPr>
              <a:t>Breakdown  </a:t>
            </a:r>
            <a:r>
              <a:rPr lang="en-US" sz="1400" dirty="0">
                <a:solidFill>
                  <a:schemeClr val="tx2"/>
                </a:solidFill>
              </a:rPr>
              <a:t>optional dimensions that split the change bars into segments.</a:t>
            </a:r>
            <a:endParaRPr lang="en-US" sz="1400" dirty="0"/>
          </a:p>
        </p:txBody>
      </p:sp>
      <p:sp>
        <p:nvSpPr>
          <p:cNvPr id="25" name="Resulting chart frame"/>
          <p:cNvSpPr/>
          <p:nvPr/>
        </p:nvSpPr>
        <p:spPr>
          <a:xfrm>
            <a:off x="3831336" y="3054096"/>
            <a:ext cx="2807208" cy="1488440"/>
          </a:xfrm>
          <a:prstGeom prst="roundRect">
            <a:avLst>
              <a:gd name="adj" fmla="val 4915"/>
            </a:avLst>
          </a:prstGeom>
          <a:solidFill>
            <a:schemeClr val="bg1"/>
          </a:solidFill>
          <a:ln w="9525">
            <a:solidFill>
              <a:schemeClr val="accent5"/>
            </a:solidFill>
            <a:prstDash val="solid"/>
          </a:ln>
          <a:effectLst>
            <a:outerShdw blurRad="101600" dist="25400" dir="5400000" algn="bl" rotWithShape="0">
              <a:srgbClr val="000000">
                <a:alpha val="16000"/>
              </a:srgbClr>
            </a:outerShdw>
          </a:effectLst>
        </p:spPr>
        <p:txBody>
          <a:bodyPr/>
          <a:lstStyle/>
          <a:p>
            <a:endParaRPr lang="en-US"/>
          </a:p>
        </p:txBody>
      </p:sp>
      <p:pic>
        <p:nvPicPr>
          <p:cNvPr id="26" name="Resulting chart" descr="Waterfall example: Resulting chart"/>
          <p:cNvPicPr>
            <a:picLocks noChangeAspect="1"/>
          </p:cNvPicPr>
          <p:nvPr/>
        </p:nvPicPr>
        <p:blipFill>
          <a:blip r:embed="rId3"/>
          <a:stretch>
            <a:fillRect/>
          </a:stretch>
        </p:blipFill>
        <p:spPr>
          <a:xfrm>
            <a:off x="3886200" y="3108960"/>
            <a:ext cx="2697480" cy="1378712"/>
          </a:xfrm>
          <a:prstGeom prst="rect">
            <a:avLst/>
          </a:prstGeom>
        </p:spPr>
      </p:pic>
      <p:sp>
        <p:nvSpPr>
          <p:cNvPr id="27" name="result caption"/>
          <p:cNvSpPr txBox="1"/>
          <p:nvPr/>
        </p:nvSpPr>
        <p:spPr>
          <a:xfrm>
            <a:off x="6766560" y="3566160"/>
            <a:ext cx="1920240" cy="548640"/>
          </a:xfrm>
          <a:prstGeom prst="rect">
            <a:avLst/>
          </a:prstGeom>
          <a:noFill/>
          <a:ln/>
        </p:spPr>
        <p:txBody>
          <a:bodyPr wrap="square" lIns="0" tIns="0" rIns="0" bIns="0" rtlCol="0" anchor="ctr"/>
          <a:lstStyle/>
          <a:p>
            <a:pPr marL="0" indent="0">
              <a:buNone/>
            </a:pPr>
            <a:r>
              <a:rPr lang="en-US" sz="1200" i="1" dirty="0">
                <a:solidFill>
                  <a:schemeClr val="tx2"/>
                </a:solidFill>
              </a:rPr>
              <a:t>One bar per pill, in tile order</a:t>
            </a:r>
            <a:endParaRPr lang="en-US" sz="1200" dirty="0"/>
          </a:p>
        </p:txBody>
      </p:sp>
      <p:sp>
        <p:nvSpPr>
          <p:cNvPr id="28"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Getting the numbers right</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4754880" cy="2852928"/>
        </p:xfrm>
        <a:graphic>
          <a:graphicData uri="http://schemas.openxmlformats.org/drawingml/2006/table">
            <a:tbl>
              <a:tblPr/>
              <a:tblGrid>
                <a:gridCol w="224028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tblGrid>
              <a:tr h="475488">
                <a:tc>
                  <a:txBody>
                    <a:bodyPr/>
                    <a:lstStyle/>
                    <a:p>
                      <a:pPr marL="0" indent="0">
                        <a:buNone/>
                      </a:pPr>
                      <a:r>
                        <a:rPr lang="en-US" sz="1200" b="1" dirty="0">
                          <a:solidFill>
                            <a:schemeClr val="bg1"/>
                          </a:solidFill>
                        </a:rPr>
                        <a:t>If your data…</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Then</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475488">
                <a:tc>
                  <a:txBody>
                    <a:bodyPr/>
                    <a:lstStyle/>
                    <a:p>
                      <a:pPr marL="0" indent="0">
                        <a:buNone/>
                      </a:pPr>
                      <a:r>
                        <a:rPr lang="en-US" sz="1200" dirty="0">
                          <a:solidFill>
                            <a:schemeClr val="tx1"/>
                          </a:solidFill>
                        </a:rPr>
                        <a:t>stores outflows as positive amounts</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tcPr>
                </a:tc>
                <a:tc>
                  <a:txBody>
                    <a:bodyPr/>
                    <a:lstStyle/>
                    <a:p>
                      <a:pPr marL="0" indent="0">
                        <a:buNone/>
                      </a:pPr>
                      <a:r>
                        <a:rPr lang="en-US" sz="1200" dirty="0">
                          <a:solidFill>
                            <a:schemeClr val="tx2"/>
                          </a:solidFill>
                        </a:rPr>
                        <a:t>Tick Invert sign for those bars (Bars tab).</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buNone/>
                      </a:pPr>
                      <a:r>
                        <a:rPr lang="en-US" sz="1200" dirty="0">
                          <a:solidFill>
                            <a:schemeClr val="tx1"/>
                          </a:solidFill>
                        </a:rPr>
                        <a:t>has an End that doesn’t match</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tcPr>
                </a:tc>
                <a:tc>
                  <a:txBody>
                    <a:bodyPr/>
                    <a:lstStyle/>
                    <a:p>
                      <a:pPr marL="0" indent="0">
                        <a:buNone/>
                      </a:pPr>
                      <a:r>
                        <a:rPr lang="en-US" sz="1200" dirty="0">
                          <a:solidFill>
                            <a:schemeClr val="tx2"/>
                          </a:solidFill>
                        </a:rPr>
                        <a:t>The End tooltip shows the difference.</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buNone/>
                      </a:pPr>
                      <a:r>
                        <a:rPr lang="en-US" sz="1200" dirty="0">
                          <a:solidFill>
                            <a:schemeClr val="tx1"/>
                          </a:solidFill>
                        </a:rPr>
                        <a:t>arrives as Measure Names / Values</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tcPr>
                </a:tc>
                <a:tc>
                  <a:txBody>
                    <a:bodyPr/>
                    <a:lstStyle/>
                    <a:p>
                      <a:pPr marL="0" indent="0">
                        <a:buNone/>
                      </a:pPr>
                      <a:r>
                        <a:rPr lang="en-US" sz="1200" dirty="0">
                          <a:solidFill>
                            <a:schemeClr val="tx2"/>
                          </a:solidFill>
                        </a:rPr>
                        <a:t>Nothing to do; it’s pivoted back.</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marL="0" indent="0">
                        <a:buNone/>
                      </a:pPr>
                      <a:r>
                        <a:rPr lang="en-US" sz="1200" dirty="0">
                          <a:solidFill>
                            <a:schemeClr val="tx1"/>
                          </a:solidFill>
                        </a:rPr>
                        <a:t>crosses zero</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tcPr>
                </a:tc>
                <a:tc>
                  <a:txBody>
                    <a:bodyPr/>
                    <a:lstStyle/>
                    <a:p>
                      <a:pPr marL="0" indent="0">
                        <a:buNone/>
                      </a:pPr>
                      <a:r>
                        <a:rPr lang="en-US" sz="1200" dirty="0">
                          <a:solidFill>
                            <a:schemeClr val="tx2"/>
                          </a:solidFill>
                        </a:rPr>
                        <a:t>Bars go below the axis, as on the right.</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tcPr>
                </a:tc>
                <a:extLst>
                  <a:ext uri="{0D108BD9-81ED-4DB2-BD59-A6C34878D82A}">
                    <a16:rowId xmlns:a16="http://schemas.microsoft.com/office/drawing/2014/main" val="10004"/>
                  </a:ext>
                </a:extLst>
              </a:tr>
              <a:tr h="475488">
                <a:tc>
                  <a:txBody>
                    <a:bodyPr/>
                    <a:lstStyle/>
                    <a:p>
                      <a:pPr marL="0" indent="0">
                        <a:buNone/>
                      </a:pPr>
                      <a:r>
                        <a:rPr lang="en-US" sz="1200" dirty="0">
                          <a:solidFill>
                            <a:schemeClr val="tx1"/>
                          </a:solidFill>
                        </a:rPr>
                        <a:t>gets a renamed measure</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tcPr>
                </a:tc>
                <a:tc>
                  <a:txBody>
                    <a:bodyPr/>
                    <a:lstStyle/>
                    <a:p>
                      <a:pPr marL="0" indent="0">
                        <a:buNone/>
                      </a:pPr>
                      <a:r>
                        <a:rPr lang="en-US" sz="1200" dirty="0">
                          <a:solidFill>
                            <a:schemeClr val="tx2"/>
                          </a:solidFill>
                        </a:rPr>
                        <a:t>That bar starts from the defaults again.</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Negative values example frame"/>
          <p:cNvSpPr/>
          <p:nvPr/>
        </p:nvSpPr>
        <p:spPr>
          <a:xfrm>
            <a:off x="5431536" y="1271016"/>
            <a:ext cx="3310128" cy="1745488"/>
          </a:xfrm>
          <a:prstGeom prst="roundRect">
            <a:avLst>
              <a:gd name="adj" fmla="val 4191"/>
            </a:avLst>
          </a:prstGeom>
          <a:solidFill>
            <a:schemeClr val="bg1"/>
          </a:solidFill>
          <a:ln w="9525">
            <a:solidFill>
              <a:schemeClr val="accent5"/>
            </a:solidFill>
            <a:prstDash val="solid"/>
          </a:ln>
          <a:effectLst>
            <a:outerShdw blurRad="101600" dist="25400" dir="5400000" algn="bl" rotWithShape="0">
              <a:srgbClr val="000000">
                <a:alpha val="16000"/>
              </a:srgbClr>
            </a:outerShdw>
          </a:effectLst>
        </p:spPr>
        <p:txBody>
          <a:bodyPr/>
          <a:lstStyle/>
          <a:p>
            <a:endParaRPr lang="en-US"/>
          </a:p>
        </p:txBody>
      </p:sp>
      <p:pic>
        <p:nvPicPr>
          <p:cNvPr id="5" name="Negative values example" descr="Waterfall example: Negative values example"/>
          <p:cNvPicPr>
            <a:picLocks noChangeAspect="1"/>
          </p:cNvPicPr>
          <p:nvPr/>
        </p:nvPicPr>
        <p:blipFill>
          <a:blip r:embed="rId3"/>
          <a:stretch>
            <a:fillRect/>
          </a:stretch>
        </p:blipFill>
        <p:spPr>
          <a:xfrm>
            <a:off x="5486400" y="1325880"/>
            <a:ext cx="3200400" cy="1635760"/>
          </a:xfrm>
          <a:prstGeom prst="rect">
            <a:avLst/>
          </a:prstGeom>
        </p:spPr>
      </p:pic>
      <p:sp>
        <p:nvSpPr>
          <p:cNvPr id="6" name="negative caption"/>
          <p:cNvSpPr txBox="1"/>
          <p:nvPr/>
        </p:nvSpPr>
        <p:spPr>
          <a:xfrm>
            <a:off x="5486400" y="3108960"/>
            <a:ext cx="3200400" cy="274320"/>
          </a:xfrm>
          <a:prstGeom prst="rect">
            <a:avLst/>
          </a:prstGeom>
          <a:noFill/>
          <a:ln/>
        </p:spPr>
        <p:txBody>
          <a:bodyPr wrap="square" lIns="0" tIns="0" rIns="0" bIns="0" rtlCol="0" anchor="ctr"/>
          <a:lstStyle/>
          <a:p>
            <a:pPr marL="0" indent="0">
              <a:buNone/>
            </a:pPr>
            <a:r>
              <a:rPr lang="en-US" sz="1100" i="1" dirty="0">
                <a:solidFill>
                  <a:schemeClr val="tx2"/>
                </a:solidFill>
              </a:rPr>
              <a:t>Net position: values crossing zero</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Three ways into the settings</a:t>
            </a:r>
            <a:endParaRPr lang="en-US" sz="3000" dirty="0"/>
          </a:p>
        </p:txBody>
      </p:sp>
      <p:sp>
        <p:nvSpPr>
          <p:cNvPr id="3" name="way icon bg 1"/>
          <p:cNvSpPr/>
          <p:nvPr/>
        </p:nvSpPr>
        <p:spPr>
          <a:xfrm>
            <a:off x="457200" y="1234440"/>
            <a:ext cx="502920" cy="502920"/>
          </a:xfrm>
          <a:prstGeom prst="ellipse">
            <a:avLst/>
          </a:prstGeom>
          <a:solidFill>
            <a:schemeClr val="bg2"/>
          </a:solidFill>
          <a:ln/>
        </p:spPr>
        <p:txBody>
          <a:bodyPr/>
          <a:lstStyle/>
          <a:p>
            <a:endParaRPr lang="en-US"/>
          </a:p>
        </p:txBody>
      </p:sp>
      <p:pic>
        <p:nvPicPr>
          <p:cNvPr id="4" name="way icon 1" descr="Format Extension"/>
          <p:cNvPicPr>
            <a:picLocks noChangeAspect="1"/>
          </p:cNvPicPr>
          <p:nvPr/>
        </p:nvPicPr>
        <p:blipFill>
          <a:blip r:embed="rId3"/>
          <a:stretch>
            <a:fillRect/>
          </a:stretch>
        </p:blipFill>
        <p:spPr>
          <a:xfrm>
            <a:off x="585216" y="1362456"/>
            <a:ext cx="246888" cy="246888"/>
          </a:xfrm>
          <a:prstGeom prst="rect">
            <a:avLst/>
          </a:prstGeom>
        </p:spPr>
      </p:pic>
      <p:sp>
        <p:nvSpPr>
          <p:cNvPr id="5" name="way Format Extension"/>
          <p:cNvSpPr txBox="1"/>
          <p:nvPr/>
        </p:nvSpPr>
        <p:spPr>
          <a:xfrm>
            <a:off x="1143000" y="1216152"/>
            <a:ext cx="3291840" cy="777240"/>
          </a:xfrm>
          <a:prstGeom prst="rect">
            <a:avLst/>
          </a:prstGeom>
          <a:noFill/>
          <a:ln/>
        </p:spPr>
        <p:txBody>
          <a:bodyPr wrap="square" lIns="0" tIns="0" rIns="0" bIns="0" rtlCol="0" anchor="t"/>
          <a:lstStyle/>
          <a:p>
            <a:pPr marL="0" indent="0">
              <a:buNone/>
            </a:pPr>
            <a:r>
              <a:rPr lang="en-US" sz="1500" b="1" dirty="0">
                <a:solidFill>
                  <a:schemeClr val="tx1"/>
                </a:solidFill>
              </a:rPr>
              <a:t>Format Extension</a:t>
            </a:r>
            <a:endParaRPr lang="en-US" sz="1500" dirty="0"/>
          </a:p>
          <a:p>
            <a:pPr marL="0" indent="0">
              <a:buNone/>
            </a:pPr>
            <a:r>
              <a:rPr lang="en-US" sz="1300" dirty="0">
                <a:solidFill>
                  <a:schemeClr val="tx2"/>
                </a:solidFill>
              </a:rPr>
              <a:t>The button at the bottom of the Marks card opens the full dialog.</a:t>
            </a:r>
            <a:endParaRPr lang="en-US" sz="1500" dirty="0"/>
          </a:p>
        </p:txBody>
      </p:sp>
      <p:sp>
        <p:nvSpPr>
          <p:cNvPr id="6" name="way icon bg 2"/>
          <p:cNvSpPr/>
          <p:nvPr/>
        </p:nvSpPr>
        <p:spPr>
          <a:xfrm>
            <a:off x="457200" y="2103120"/>
            <a:ext cx="502920" cy="502920"/>
          </a:xfrm>
          <a:prstGeom prst="ellipse">
            <a:avLst/>
          </a:prstGeom>
          <a:solidFill>
            <a:schemeClr val="bg2"/>
          </a:solidFill>
          <a:ln/>
        </p:spPr>
        <p:txBody>
          <a:bodyPr/>
          <a:lstStyle/>
          <a:p>
            <a:endParaRPr lang="en-US"/>
          </a:p>
        </p:txBody>
      </p:sp>
      <p:pic>
        <p:nvPicPr>
          <p:cNvPr id="7" name="way icon 2" descr="Right-click a bar"/>
          <p:cNvPicPr>
            <a:picLocks noChangeAspect="1"/>
          </p:cNvPicPr>
          <p:nvPr/>
        </p:nvPicPr>
        <p:blipFill>
          <a:blip r:embed="rId4"/>
          <a:stretch>
            <a:fillRect/>
          </a:stretch>
        </p:blipFill>
        <p:spPr>
          <a:xfrm>
            <a:off x="585216" y="2231136"/>
            <a:ext cx="246888" cy="246888"/>
          </a:xfrm>
          <a:prstGeom prst="rect">
            <a:avLst/>
          </a:prstGeom>
        </p:spPr>
      </p:pic>
      <p:sp>
        <p:nvSpPr>
          <p:cNvPr id="8" name="way Right-click a bar"/>
          <p:cNvSpPr txBox="1"/>
          <p:nvPr/>
        </p:nvSpPr>
        <p:spPr>
          <a:xfrm>
            <a:off x="1143000" y="2084832"/>
            <a:ext cx="3291840" cy="777240"/>
          </a:xfrm>
          <a:prstGeom prst="rect">
            <a:avLst/>
          </a:prstGeom>
          <a:noFill/>
          <a:ln/>
        </p:spPr>
        <p:txBody>
          <a:bodyPr wrap="square" lIns="0" tIns="0" rIns="0" bIns="0" rtlCol="0" anchor="t"/>
          <a:lstStyle/>
          <a:p>
            <a:pPr marL="0" indent="0">
              <a:buNone/>
            </a:pPr>
            <a:r>
              <a:rPr lang="en-US" sz="1500" b="1" dirty="0">
                <a:solidFill>
                  <a:schemeClr val="tx1"/>
                </a:solidFill>
              </a:rPr>
              <a:t>Right-click a bar</a:t>
            </a:r>
            <a:endParaRPr lang="en-US" sz="1500" dirty="0"/>
          </a:p>
          <a:p>
            <a:pPr marL="0" indent="0">
              <a:buNone/>
            </a:pPr>
            <a:r>
              <a:rPr lang="en-US" sz="1300" dirty="0">
                <a:solidFill>
                  <a:schemeClr val="tx2"/>
                </a:solidFill>
              </a:rPr>
              <a:t>Format that bar, or jump to Groups, Axes, Lines or Numbers.</a:t>
            </a:r>
            <a:endParaRPr lang="en-US" sz="1500" dirty="0"/>
          </a:p>
        </p:txBody>
      </p:sp>
      <p:sp>
        <p:nvSpPr>
          <p:cNvPr id="9" name="way icon bg 3"/>
          <p:cNvSpPr/>
          <p:nvPr/>
        </p:nvSpPr>
        <p:spPr>
          <a:xfrm>
            <a:off x="457200" y="2971800"/>
            <a:ext cx="502920" cy="502920"/>
          </a:xfrm>
          <a:prstGeom prst="ellipse">
            <a:avLst/>
          </a:prstGeom>
          <a:solidFill>
            <a:schemeClr val="bg2"/>
          </a:solidFill>
          <a:ln/>
        </p:spPr>
        <p:txBody>
          <a:bodyPr/>
          <a:lstStyle/>
          <a:p>
            <a:endParaRPr lang="en-US"/>
          </a:p>
        </p:txBody>
      </p:sp>
      <p:pic>
        <p:nvPicPr>
          <p:cNvPr id="10" name="way icon 3" descr="Double-click a bar"/>
          <p:cNvPicPr>
            <a:picLocks noChangeAspect="1"/>
          </p:cNvPicPr>
          <p:nvPr/>
        </p:nvPicPr>
        <p:blipFill>
          <a:blip r:embed="rId5"/>
          <a:stretch>
            <a:fillRect/>
          </a:stretch>
        </p:blipFill>
        <p:spPr>
          <a:xfrm>
            <a:off x="585216" y="3099816"/>
            <a:ext cx="246888" cy="246888"/>
          </a:xfrm>
          <a:prstGeom prst="rect">
            <a:avLst/>
          </a:prstGeom>
        </p:spPr>
      </p:pic>
      <p:sp>
        <p:nvSpPr>
          <p:cNvPr id="11" name="way Double-click a bar"/>
          <p:cNvSpPr txBox="1"/>
          <p:nvPr/>
        </p:nvSpPr>
        <p:spPr>
          <a:xfrm>
            <a:off x="1143000" y="2953512"/>
            <a:ext cx="3291840" cy="777240"/>
          </a:xfrm>
          <a:prstGeom prst="rect">
            <a:avLst/>
          </a:prstGeom>
          <a:noFill/>
          <a:ln/>
        </p:spPr>
        <p:txBody>
          <a:bodyPr wrap="square" lIns="0" tIns="0" rIns="0" bIns="0" rtlCol="0" anchor="t"/>
          <a:lstStyle/>
          <a:p>
            <a:pPr marL="0" indent="0">
              <a:buNone/>
            </a:pPr>
            <a:r>
              <a:rPr lang="en-US" sz="1500" b="1" dirty="0">
                <a:solidFill>
                  <a:schemeClr val="tx1"/>
                </a:solidFill>
              </a:rPr>
              <a:t>Double-click a bar</a:t>
            </a:r>
            <a:endParaRPr lang="en-US" sz="1500" dirty="0"/>
          </a:p>
          <a:p>
            <a:pPr marL="0" indent="0">
              <a:buNone/>
            </a:pPr>
            <a:r>
              <a:rPr lang="en-US" sz="1300" dirty="0">
                <a:solidFill>
                  <a:schemeClr val="tx2"/>
                </a:solidFill>
              </a:rPr>
              <a:t>Opens that bar’s settings directly.</a:t>
            </a:r>
            <a:endParaRPr lang="en-US" sz="1500" dirty="0"/>
          </a:p>
        </p:txBody>
      </p:sp>
      <p:sp>
        <p:nvSpPr>
          <p:cNvPr id="12" name="dialog behaviour"/>
          <p:cNvSpPr txBox="1"/>
          <p:nvPr/>
        </p:nvSpPr>
        <p:spPr>
          <a:xfrm>
            <a:off x="457200" y="3931920"/>
            <a:ext cx="4023360" cy="548640"/>
          </a:xfrm>
          <a:prstGeom prst="rect">
            <a:avLst/>
          </a:prstGeom>
          <a:noFill/>
          <a:ln/>
        </p:spPr>
        <p:txBody>
          <a:bodyPr wrap="square" lIns="0" tIns="0" rIns="0" bIns="0" rtlCol="0" anchor="t"/>
          <a:lstStyle/>
          <a:p>
            <a:pPr marL="0" indent="0">
              <a:buNone/>
            </a:pPr>
            <a:r>
              <a:rPr lang="en-US" sz="1200" dirty="0">
                <a:solidFill>
                  <a:schemeClr val="tx2"/>
                </a:solidFill>
              </a:rPr>
              <a:t>Changes show live. Cancel undoes everything since the dialog opened; Reset tab restores that tab’s defaults.</a:t>
            </a:r>
            <a:endParaRPr lang="en-US" sz="1200" dirty="0"/>
          </a:p>
        </p:txBody>
      </p:sp>
      <p:sp>
        <p:nvSpPr>
          <p:cNvPr id="13" name="Right-click menu frame"/>
          <p:cNvSpPr/>
          <p:nvPr/>
        </p:nvSpPr>
        <p:spPr>
          <a:xfrm>
            <a:off x="4700016" y="1316736"/>
            <a:ext cx="4041648" cy="2119376"/>
          </a:xfrm>
          <a:prstGeom prst="roundRect">
            <a:avLst>
              <a:gd name="adj" fmla="val 3452"/>
            </a:avLst>
          </a:prstGeom>
          <a:solidFill>
            <a:schemeClr val="bg1"/>
          </a:solidFill>
          <a:ln w="9525">
            <a:solidFill>
              <a:schemeClr val="accent5"/>
            </a:solidFill>
            <a:prstDash val="solid"/>
          </a:ln>
          <a:effectLst>
            <a:outerShdw blurRad="101600" dist="25400" dir="5400000" algn="bl" rotWithShape="0">
              <a:srgbClr val="000000">
                <a:alpha val="16000"/>
              </a:srgbClr>
            </a:outerShdw>
          </a:effectLst>
        </p:spPr>
        <p:txBody>
          <a:bodyPr/>
          <a:lstStyle/>
          <a:p>
            <a:endParaRPr lang="en-US"/>
          </a:p>
        </p:txBody>
      </p:sp>
      <p:pic>
        <p:nvPicPr>
          <p:cNvPr id="14" name="Right-click menu" descr="Waterfall example: Right-click menu"/>
          <p:cNvPicPr>
            <a:picLocks noChangeAspect="1"/>
          </p:cNvPicPr>
          <p:nvPr/>
        </p:nvPicPr>
        <p:blipFill>
          <a:blip r:embed="rId6"/>
          <a:stretch>
            <a:fillRect/>
          </a:stretch>
        </p:blipFill>
        <p:spPr>
          <a:xfrm>
            <a:off x="4754880" y="1371600"/>
            <a:ext cx="3931920" cy="2009648"/>
          </a:xfrm>
          <a:prstGeom prst="rect">
            <a:avLst/>
          </a:prstGeom>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Bars: style one bar or all of them</a:t>
            </a:r>
            <a:endParaRPr lang="en-US" sz="3000" dirty="0"/>
          </a:p>
        </p:txBody>
      </p:sp>
      <p:sp>
        <p:nvSpPr>
          <p:cNvPr id="3" name="bars bullets"/>
          <p:cNvSpPr txBox="1"/>
          <p:nvPr/>
        </p:nvSpPr>
        <p:spPr>
          <a:xfrm>
            <a:off x="457200" y="1188720"/>
            <a:ext cx="4937760" cy="274320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chemeClr val="tx1"/>
                </a:solidFill>
              </a:rPr>
              <a:t>Pick a bar:  </a:t>
            </a:r>
            <a:r>
              <a:rPr lang="en-US" sz="1400" dirty="0">
                <a:solidFill>
                  <a:schemeClr val="tx2"/>
                </a:solidFill>
              </a:rPr>
              <a:t>Start, any change, or End.</a:t>
            </a:r>
            <a:endParaRPr lang="en-US" sz="1400" dirty="0"/>
          </a:p>
          <a:p>
            <a:pPr marL="177800" indent="-177800">
              <a:spcAft>
                <a:spcPts val="800"/>
              </a:spcAft>
              <a:buSzPct val="100000"/>
              <a:buChar char="•"/>
            </a:pPr>
            <a:r>
              <a:rPr lang="en-US" sz="1400" b="1" dirty="0">
                <a:solidFill>
                  <a:schemeClr val="tx1"/>
                </a:solidFill>
              </a:rPr>
              <a:t>Bar:  </a:t>
            </a:r>
            <a:r>
              <a:rPr lang="en-US" sz="1400" dirty="0">
                <a:solidFill>
                  <a:schemeClr val="tx2"/>
                </a:solidFill>
              </a:rPr>
              <a:t>label, colour (Increase / Decrease or custom), invert sign.</a:t>
            </a:r>
            <a:endParaRPr lang="en-US" sz="1400" dirty="0"/>
          </a:p>
          <a:p>
            <a:pPr marL="177800" indent="-177800">
              <a:spcAft>
                <a:spcPts val="800"/>
              </a:spcAft>
              <a:buSzPct val="100000"/>
              <a:buChar char="•"/>
            </a:pPr>
            <a:r>
              <a:rPr lang="en-US" sz="1400" b="1" dirty="0">
                <a:solidFill>
                  <a:schemeClr val="tx1"/>
                </a:solidFill>
              </a:rPr>
              <a:t>Total value:  </a:t>
            </a:r>
            <a:r>
              <a:rPr lang="en-US" sz="1400" dirty="0">
                <a:solidFill>
                  <a:schemeClr val="tx2"/>
                </a:solidFill>
              </a:rPr>
              <a:t>show or hide, place it above, inside or below, and style it.</a:t>
            </a:r>
            <a:endParaRPr lang="en-US" sz="1400" dirty="0"/>
          </a:p>
          <a:p>
            <a:pPr marL="177800" indent="-177800">
              <a:spcAft>
                <a:spcPts val="800"/>
              </a:spcAft>
              <a:buSzPct val="100000"/>
              <a:buChar char="•"/>
            </a:pPr>
            <a:r>
              <a:rPr lang="en-US" sz="1400" b="1" dirty="0">
                <a:solidFill>
                  <a:schemeClr val="tx1"/>
                </a:solidFill>
              </a:rPr>
              <a:t>Clipped marker:  </a:t>
            </a:r>
            <a:r>
              <a:rPr lang="en-US" sz="1400" dirty="0">
                <a:solidFill>
                  <a:schemeClr val="tx2"/>
                </a:solidFill>
              </a:rPr>
              <a:t>slanted lines, zigzag or gap, position and colours.</a:t>
            </a:r>
            <a:endParaRPr lang="en-US" sz="1400" dirty="0"/>
          </a:p>
          <a:p>
            <a:pPr marL="177800" indent="-177800">
              <a:spcAft>
                <a:spcPts val="800"/>
              </a:spcAft>
              <a:buSzPct val="100000"/>
              <a:buChar char="•"/>
            </a:pPr>
            <a:r>
              <a:rPr lang="en-US" sz="1400" b="1" dirty="0">
                <a:solidFill>
                  <a:schemeClr val="tx1"/>
                </a:solidFill>
              </a:rPr>
              <a:t>All bars:  </a:t>
            </a:r>
            <a:r>
              <a:rPr lang="en-US" sz="1400" dirty="0">
                <a:solidFill>
                  <a:schemeClr val="tx2"/>
                </a:solidFill>
              </a:rPr>
              <a:t>width, corner radius, colours, calculate End, tooltip, right-click menu.</a:t>
            </a:r>
            <a:endParaRPr lang="en-US" sz="1400" dirty="0"/>
          </a:p>
        </p:txBody>
      </p:sp>
      <p:sp>
        <p:nvSpPr>
          <p:cNvPr id="4" name="apply note"/>
          <p:cNvSpPr txBox="1"/>
          <p:nvPr/>
        </p:nvSpPr>
        <p:spPr>
          <a:xfrm>
            <a:off x="457200" y="3977640"/>
            <a:ext cx="4937760" cy="457200"/>
          </a:xfrm>
          <a:prstGeom prst="rect">
            <a:avLst/>
          </a:prstGeom>
          <a:noFill/>
          <a:ln/>
        </p:spPr>
        <p:txBody>
          <a:bodyPr wrap="square" lIns="0" tIns="0" rIns="0" bIns="0" rtlCol="0" anchor="ctr"/>
          <a:lstStyle/>
          <a:p>
            <a:pPr marL="0" indent="0">
              <a:buNone/>
            </a:pPr>
            <a:r>
              <a:rPr lang="en-US" sz="1200" i="1" dirty="0">
                <a:solidFill>
                  <a:schemeClr val="tx2"/>
                </a:solidFill>
              </a:rPr>
              <a:t>Apply these settings to all changes copies one bar’s look to every change bar.</a:t>
            </a:r>
            <a:endParaRPr lang="en-US" sz="1200" dirty="0"/>
          </a:p>
        </p:txBody>
      </p:sp>
      <p:sp>
        <p:nvSpPr>
          <p:cNvPr id="5" name="Bars tab frame"/>
          <p:cNvSpPr/>
          <p:nvPr/>
        </p:nvSpPr>
        <p:spPr>
          <a:xfrm>
            <a:off x="5852160" y="1097280"/>
            <a:ext cx="2777595" cy="3520440"/>
          </a:xfrm>
          <a:prstGeom prst="rect">
            <a:avLst/>
          </a:prstGeom>
          <a:solidFill>
            <a:schemeClr val="bg1"/>
          </a:solidFill>
          <a:ln w="9525">
            <a:solidFill>
              <a:schemeClr val="accent5"/>
            </a:solidFill>
            <a:prstDash val="solid"/>
          </a:ln>
          <a:effectLst>
            <a:outerShdw blurRad="101600" dist="25400" dir="5400000" algn="bl" rotWithShape="0">
              <a:srgbClr val="000000">
                <a:alpha val="16000"/>
              </a:srgbClr>
            </a:outerShdw>
          </a:effectLst>
        </p:spPr>
        <p:txBody>
          <a:bodyPr/>
          <a:lstStyle/>
          <a:p>
            <a:endParaRPr lang="en-US"/>
          </a:p>
        </p:txBody>
      </p:sp>
      <p:pic>
        <p:nvPicPr>
          <p:cNvPr id="6" name="Bars tab" descr="Format dialog: Bars tab"/>
          <p:cNvPicPr>
            <a:picLocks noChangeAspect="1"/>
          </p:cNvPicPr>
          <p:nvPr/>
        </p:nvPicPr>
        <p:blipFill>
          <a:blip r:embed="rId3"/>
          <a:stretch>
            <a:fillRect/>
          </a:stretch>
        </p:blipFill>
        <p:spPr>
          <a:xfrm>
            <a:off x="5852160" y="1097280"/>
            <a:ext cx="2777595" cy="3520440"/>
          </a:xfrm>
          <a:prstGeom prst="rect">
            <a:avLst/>
          </a:prstGeom>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Breakdown: split change bars into segments</a:t>
            </a:r>
            <a:endParaRPr lang="en-US" sz="3000" dirty="0"/>
          </a:p>
        </p:txBody>
      </p:sp>
      <p:sp>
        <p:nvSpPr>
          <p:cNvPr id="3" name="Breakdown example frame"/>
          <p:cNvSpPr/>
          <p:nvPr/>
        </p:nvSpPr>
        <p:spPr>
          <a:xfrm>
            <a:off x="448056" y="1133856"/>
            <a:ext cx="3675888" cy="1932432"/>
          </a:xfrm>
          <a:prstGeom prst="roundRect">
            <a:avLst>
              <a:gd name="adj" fmla="val 3785"/>
            </a:avLst>
          </a:prstGeom>
          <a:solidFill>
            <a:schemeClr val="bg1"/>
          </a:solidFill>
          <a:ln w="9525">
            <a:solidFill>
              <a:schemeClr val="accent5"/>
            </a:solidFill>
            <a:prstDash val="solid"/>
          </a:ln>
          <a:effectLst>
            <a:outerShdw blurRad="101600" dist="25400" dir="5400000" algn="bl" rotWithShape="0">
              <a:srgbClr val="000000">
                <a:alpha val="16000"/>
              </a:srgbClr>
            </a:outerShdw>
          </a:effectLst>
        </p:spPr>
        <p:txBody>
          <a:bodyPr/>
          <a:lstStyle/>
          <a:p>
            <a:endParaRPr lang="en-US"/>
          </a:p>
        </p:txBody>
      </p:sp>
      <p:pic>
        <p:nvPicPr>
          <p:cNvPr id="4" name="Breakdown example" descr="Waterfall example: Breakdown example"/>
          <p:cNvPicPr>
            <a:picLocks noChangeAspect="1"/>
          </p:cNvPicPr>
          <p:nvPr/>
        </p:nvPicPr>
        <p:blipFill>
          <a:blip r:embed="rId3"/>
          <a:stretch>
            <a:fillRect/>
          </a:stretch>
        </p:blipFill>
        <p:spPr>
          <a:xfrm>
            <a:off x="502920" y="1188720"/>
            <a:ext cx="3566160" cy="1822704"/>
          </a:xfrm>
          <a:prstGeom prst="rect">
            <a:avLst/>
          </a:prstGeom>
        </p:spPr>
      </p:pic>
      <p:sp>
        <p:nvSpPr>
          <p:cNvPr id="5" name="step 1"/>
          <p:cNvSpPr/>
          <p:nvPr/>
        </p:nvSpPr>
        <p:spPr>
          <a:xfrm>
            <a:off x="502920" y="3200400"/>
            <a:ext cx="256032" cy="256032"/>
          </a:xfrm>
          <a:prstGeom prst="ellipse">
            <a:avLst/>
          </a:prstGeom>
          <a:solidFill>
            <a:schemeClr val="accent1"/>
          </a:solidFill>
          <a:ln/>
        </p:spPr>
        <p:txBody>
          <a:bodyPr/>
          <a:lstStyle/>
          <a:p>
            <a:endParaRPr lang="en-US"/>
          </a:p>
        </p:txBody>
      </p:sp>
      <p:sp>
        <p:nvSpPr>
          <p:cNvPr id="6" name="step 1 label"/>
          <p:cNvSpPr txBox="1"/>
          <p:nvPr/>
        </p:nvSpPr>
        <p:spPr>
          <a:xfrm>
            <a:off x="502920" y="3200400"/>
            <a:ext cx="256032" cy="256032"/>
          </a:xfrm>
          <a:prstGeom prst="rect">
            <a:avLst/>
          </a:prstGeom>
          <a:noFill/>
          <a:ln/>
        </p:spPr>
        <p:txBody>
          <a:bodyPr wrap="square" lIns="0" tIns="0" rIns="0" bIns="0" rtlCol="0" anchor="ctr"/>
          <a:lstStyle/>
          <a:p>
            <a:pPr marL="0" indent="0" algn="ctr">
              <a:buNone/>
            </a:pPr>
            <a:r>
              <a:rPr lang="en-US" sz="1100" b="1" dirty="0">
                <a:solidFill>
                  <a:schemeClr val="bg1"/>
                </a:solidFill>
              </a:rPr>
              <a:t>1</a:t>
            </a:r>
            <a:endParaRPr lang="en-US" sz="1100" dirty="0"/>
          </a:p>
        </p:txBody>
      </p:sp>
      <p:sp>
        <p:nvSpPr>
          <p:cNvPr id="7" name="breakdown step 1"/>
          <p:cNvSpPr txBox="1"/>
          <p:nvPr/>
        </p:nvSpPr>
        <p:spPr>
          <a:xfrm>
            <a:off x="868680" y="3200400"/>
            <a:ext cx="4389120" cy="256032"/>
          </a:xfrm>
          <a:prstGeom prst="rect">
            <a:avLst/>
          </a:prstGeom>
          <a:noFill/>
          <a:ln/>
        </p:spPr>
        <p:txBody>
          <a:bodyPr wrap="square" lIns="0" tIns="0" rIns="0" bIns="0" rtlCol="0" anchor="ctr"/>
          <a:lstStyle/>
          <a:p>
            <a:pPr marL="0" indent="0">
              <a:buNone/>
            </a:pPr>
            <a:r>
              <a:rPr lang="en-US" sz="1250" dirty="0">
                <a:solidFill>
                  <a:schemeClr val="tx1"/>
                </a:solidFill>
              </a:rPr>
              <a:t>Drop one or more dimensions on Breakdown</a:t>
            </a:r>
            <a:endParaRPr lang="en-US" sz="1250" dirty="0"/>
          </a:p>
        </p:txBody>
      </p:sp>
      <p:sp>
        <p:nvSpPr>
          <p:cNvPr id="8" name="step 2"/>
          <p:cNvSpPr/>
          <p:nvPr/>
        </p:nvSpPr>
        <p:spPr>
          <a:xfrm>
            <a:off x="502920" y="3529584"/>
            <a:ext cx="256032" cy="256032"/>
          </a:xfrm>
          <a:prstGeom prst="ellipse">
            <a:avLst/>
          </a:prstGeom>
          <a:solidFill>
            <a:schemeClr val="accent1"/>
          </a:solidFill>
          <a:ln/>
        </p:spPr>
        <p:txBody>
          <a:bodyPr/>
          <a:lstStyle/>
          <a:p>
            <a:endParaRPr lang="en-US"/>
          </a:p>
        </p:txBody>
      </p:sp>
      <p:sp>
        <p:nvSpPr>
          <p:cNvPr id="9" name="step 2 label"/>
          <p:cNvSpPr txBox="1"/>
          <p:nvPr/>
        </p:nvSpPr>
        <p:spPr>
          <a:xfrm>
            <a:off x="502920" y="3529584"/>
            <a:ext cx="256032" cy="256032"/>
          </a:xfrm>
          <a:prstGeom prst="rect">
            <a:avLst/>
          </a:prstGeom>
          <a:noFill/>
          <a:ln/>
        </p:spPr>
        <p:txBody>
          <a:bodyPr wrap="square" lIns="0" tIns="0" rIns="0" bIns="0" rtlCol="0" anchor="ctr"/>
          <a:lstStyle/>
          <a:p>
            <a:pPr marL="0" indent="0" algn="ctr">
              <a:buNone/>
            </a:pPr>
            <a:r>
              <a:rPr lang="en-US" sz="1100" b="1" dirty="0">
                <a:solidFill>
                  <a:schemeClr val="bg1"/>
                </a:solidFill>
              </a:rPr>
              <a:t>2</a:t>
            </a:r>
            <a:endParaRPr lang="en-US" sz="1100" dirty="0"/>
          </a:p>
        </p:txBody>
      </p:sp>
      <p:sp>
        <p:nvSpPr>
          <p:cNvPr id="10" name="breakdown step 2"/>
          <p:cNvSpPr txBox="1"/>
          <p:nvPr/>
        </p:nvSpPr>
        <p:spPr>
          <a:xfrm>
            <a:off x="868680" y="3529584"/>
            <a:ext cx="4389120" cy="256032"/>
          </a:xfrm>
          <a:prstGeom prst="rect">
            <a:avLst/>
          </a:prstGeom>
          <a:noFill/>
          <a:ln/>
        </p:spPr>
        <p:txBody>
          <a:bodyPr wrap="square" lIns="0" tIns="0" rIns="0" bIns="0" rtlCol="0" anchor="ctr"/>
          <a:lstStyle/>
          <a:p>
            <a:pPr marL="0" indent="0">
              <a:buNone/>
            </a:pPr>
            <a:r>
              <a:rPr lang="en-US" sz="1250" dirty="0">
                <a:solidFill>
                  <a:schemeClr val="tx1"/>
                </a:solidFill>
              </a:rPr>
              <a:t>Bars tab: pick a change bar, tick Show breakdown</a:t>
            </a:r>
            <a:endParaRPr lang="en-US" sz="1250" dirty="0"/>
          </a:p>
        </p:txBody>
      </p:sp>
      <p:sp>
        <p:nvSpPr>
          <p:cNvPr id="11" name="step 3"/>
          <p:cNvSpPr/>
          <p:nvPr/>
        </p:nvSpPr>
        <p:spPr>
          <a:xfrm>
            <a:off x="502920" y="3858768"/>
            <a:ext cx="256032" cy="256032"/>
          </a:xfrm>
          <a:prstGeom prst="ellipse">
            <a:avLst/>
          </a:prstGeom>
          <a:solidFill>
            <a:schemeClr val="accent1"/>
          </a:solidFill>
          <a:ln/>
        </p:spPr>
        <p:txBody>
          <a:bodyPr/>
          <a:lstStyle/>
          <a:p>
            <a:endParaRPr lang="en-US"/>
          </a:p>
        </p:txBody>
      </p:sp>
      <p:sp>
        <p:nvSpPr>
          <p:cNvPr id="12" name="step 3 label"/>
          <p:cNvSpPr txBox="1"/>
          <p:nvPr/>
        </p:nvSpPr>
        <p:spPr>
          <a:xfrm>
            <a:off x="502920" y="3858768"/>
            <a:ext cx="256032" cy="256032"/>
          </a:xfrm>
          <a:prstGeom prst="rect">
            <a:avLst/>
          </a:prstGeom>
          <a:noFill/>
          <a:ln/>
        </p:spPr>
        <p:txBody>
          <a:bodyPr wrap="square" lIns="0" tIns="0" rIns="0" bIns="0" rtlCol="0" anchor="ctr"/>
          <a:lstStyle/>
          <a:p>
            <a:pPr marL="0" indent="0" algn="ctr">
              <a:buNone/>
            </a:pPr>
            <a:r>
              <a:rPr lang="en-US" sz="1100" b="1" dirty="0">
                <a:solidFill>
                  <a:schemeClr val="bg1"/>
                </a:solidFill>
              </a:rPr>
              <a:t>3</a:t>
            </a:r>
            <a:endParaRPr lang="en-US" sz="1100" dirty="0"/>
          </a:p>
        </p:txBody>
      </p:sp>
      <p:sp>
        <p:nvSpPr>
          <p:cNvPr id="13" name="breakdown step 3"/>
          <p:cNvSpPr txBox="1"/>
          <p:nvPr/>
        </p:nvSpPr>
        <p:spPr>
          <a:xfrm>
            <a:off x="868680" y="3858768"/>
            <a:ext cx="4389120" cy="256032"/>
          </a:xfrm>
          <a:prstGeom prst="rect">
            <a:avLst/>
          </a:prstGeom>
          <a:noFill/>
          <a:ln/>
        </p:spPr>
        <p:txBody>
          <a:bodyPr wrap="square" lIns="0" tIns="0" rIns="0" bIns="0" rtlCol="0" anchor="ctr"/>
          <a:lstStyle/>
          <a:p>
            <a:pPr marL="0" indent="0">
              <a:buNone/>
            </a:pPr>
            <a:r>
              <a:rPr lang="en-US" sz="1250" dirty="0">
                <a:solidFill>
                  <a:schemeClr val="tx1"/>
                </a:solidFill>
              </a:rPr>
              <a:t>Tick which dimensions it uses, set their order (▲ ▼)</a:t>
            </a:r>
            <a:endParaRPr lang="en-US" sz="1250" dirty="0"/>
          </a:p>
        </p:txBody>
      </p:sp>
      <p:sp>
        <p:nvSpPr>
          <p:cNvPr id="14" name="step 4"/>
          <p:cNvSpPr/>
          <p:nvPr/>
        </p:nvSpPr>
        <p:spPr>
          <a:xfrm>
            <a:off x="502920" y="4187952"/>
            <a:ext cx="256032" cy="256032"/>
          </a:xfrm>
          <a:prstGeom prst="ellipse">
            <a:avLst/>
          </a:prstGeom>
          <a:solidFill>
            <a:schemeClr val="accent1"/>
          </a:solidFill>
          <a:ln/>
        </p:spPr>
        <p:txBody>
          <a:bodyPr/>
          <a:lstStyle/>
          <a:p>
            <a:endParaRPr lang="en-US"/>
          </a:p>
        </p:txBody>
      </p:sp>
      <p:sp>
        <p:nvSpPr>
          <p:cNvPr id="15" name="step 4 label"/>
          <p:cNvSpPr txBox="1"/>
          <p:nvPr/>
        </p:nvSpPr>
        <p:spPr>
          <a:xfrm>
            <a:off x="502920" y="4187952"/>
            <a:ext cx="256032" cy="256032"/>
          </a:xfrm>
          <a:prstGeom prst="rect">
            <a:avLst/>
          </a:prstGeom>
          <a:noFill/>
          <a:ln/>
        </p:spPr>
        <p:txBody>
          <a:bodyPr wrap="square" lIns="0" tIns="0" rIns="0" bIns="0" rtlCol="0" anchor="ctr"/>
          <a:lstStyle/>
          <a:p>
            <a:pPr marL="0" indent="0" algn="ctr">
              <a:buNone/>
            </a:pPr>
            <a:r>
              <a:rPr lang="en-US" sz="1100" b="1" dirty="0">
                <a:solidFill>
                  <a:schemeClr val="bg1"/>
                </a:solidFill>
              </a:rPr>
              <a:t>4</a:t>
            </a:r>
            <a:endParaRPr lang="en-US" sz="1100" dirty="0"/>
          </a:p>
        </p:txBody>
      </p:sp>
      <p:sp>
        <p:nvSpPr>
          <p:cNvPr id="16" name="breakdown step 4"/>
          <p:cNvSpPr txBox="1"/>
          <p:nvPr/>
        </p:nvSpPr>
        <p:spPr>
          <a:xfrm>
            <a:off x="868680" y="4187952"/>
            <a:ext cx="4389120" cy="256032"/>
          </a:xfrm>
          <a:prstGeom prst="rect">
            <a:avLst/>
          </a:prstGeom>
          <a:noFill/>
          <a:ln/>
        </p:spPr>
        <p:txBody>
          <a:bodyPr wrap="square" lIns="0" tIns="0" rIns="0" bIns="0" rtlCol="0" anchor="ctr"/>
          <a:lstStyle/>
          <a:p>
            <a:pPr marL="0" indent="0">
              <a:buNone/>
            </a:pPr>
            <a:r>
              <a:rPr lang="en-US" sz="1250" dirty="0">
                <a:solidFill>
                  <a:schemeClr val="tx1"/>
                </a:solidFill>
              </a:rPr>
              <a:t>Colours: shades of the bar colour, or custom</a:t>
            </a:r>
            <a:endParaRPr lang="en-US" sz="1250" dirty="0"/>
          </a:p>
        </p:txBody>
      </p:sp>
      <p:sp>
        <p:nvSpPr>
          <p:cNvPr id="17" name="Breakdown settings frame"/>
          <p:cNvSpPr/>
          <p:nvPr/>
        </p:nvSpPr>
        <p:spPr>
          <a:xfrm>
            <a:off x="5852160" y="1097280"/>
            <a:ext cx="2777595" cy="3520440"/>
          </a:xfrm>
          <a:prstGeom prst="rect">
            <a:avLst/>
          </a:prstGeom>
          <a:solidFill>
            <a:schemeClr val="bg1"/>
          </a:solidFill>
          <a:ln w="9525">
            <a:solidFill>
              <a:schemeClr val="accent5"/>
            </a:solidFill>
            <a:prstDash val="solid"/>
          </a:ln>
          <a:effectLst>
            <a:outerShdw blurRad="101600" dist="25400" dir="5400000" algn="bl" rotWithShape="0">
              <a:srgbClr val="000000">
                <a:alpha val="16000"/>
              </a:srgbClr>
            </a:outerShdw>
          </a:effectLst>
        </p:spPr>
        <p:txBody>
          <a:bodyPr/>
          <a:lstStyle/>
          <a:p>
            <a:endParaRPr lang="en-US"/>
          </a:p>
        </p:txBody>
      </p:sp>
      <p:pic>
        <p:nvPicPr>
          <p:cNvPr id="18" name="Breakdown settings" descr="Format dialog: Breakdown settings"/>
          <p:cNvPicPr>
            <a:picLocks noChangeAspect="1"/>
          </p:cNvPicPr>
          <p:nvPr/>
        </p:nvPicPr>
        <p:blipFill>
          <a:blip r:embed="rId4"/>
          <a:stretch>
            <a:fillRect/>
          </a:stretch>
        </p:blipFill>
        <p:spPr>
          <a:xfrm>
            <a:off x="5852160" y="1097280"/>
            <a:ext cx="2777595" cy="3520440"/>
          </a:xfrm>
          <a:prstGeom prst="rect">
            <a:avLst/>
          </a:prstGeom>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Groups: summarise runs of changes</a:t>
            </a:r>
            <a:endParaRPr lang="en-US" sz="3000" dirty="0"/>
          </a:p>
        </p:txBody>
      </p:sp>
      <p:sp>
        <p:nvSpPr>
          <p:cNvPr id="3" name="group mode None chip"/>
          <p:cNvSpPr/>
          <p:nvPr/>
        </p:nvSpPr>
        <p:spPr>
          <a:xfrm>
            <a:off x="457200" y="1234440"/>
            <a:ext cx="777240" cy="292608"/>
          </a:xfrm>
          <a:prstGeom prst="roundRect">
            <a:avLst>
              <a:gd name="adj" fmla="val 50000"/>
            </a:avLst>
          </a:prstGeom>
          <a:solidFill>
            <a:schemeClr val="bg2"/>
          </a:solidFill>
          <a:ln/>
        </p:spPr>
        <p:txBody>
          <a:bodyPr/>
          <a:lstStyle/>
          <a:p>
            <a:endParaRPr lang="en-US"/>
          </a:p>
        </p:txBody>
      </p:sp>
      <p:sp>
        <p:nvSpPr>
          <p:cNvPr id="4" name="group mode None"/>
          <p:cNvSpPr txBox="1"/>
          <p:nvPr/>
        </p:nvSpPr>
        <p:spPr>
          <a:xfrm>
            <a:off x="457200" y="1234440"/>
            <a:ext cx="777240" cy="292608"/>
          </a:xfrm>
          <a:prstGeom prst="rect">
            <a:avLst/>
          </a:prstGeom>
          <a:noFill/>
          <a:ln/>
        </p:spPr>
        <p:txBody>
          <a:bodyPr wrap="square" lIns="0" tIns="0" rIns="0" bIns="0" rtlCol="0" anchor="ctr"/>
          <a:lstStyle/>
          <a:p>
            <a:pPr marL="0" indent="0" algn="ctr">
              <a:buNone/>
            </a:pPr>
            <a:r>
              <a:rPr lang="en-US" sz="1100" b="1" dirty="0">
                <a:solidFill>
                  <a:schemeClr val="tx1"/>
                </a:solidFill>
              </a:rPr>
              <a:t>None</a:t>
            </a:r>
            <a:endParaRPr lang="en-US" sz="1100" dirty="0"/>
          </a:p>
        </p:txBody>
      </p:sp>
      <p:sp>
        <p:nvSpPr>
          <p:cNvPr id="5" name="group mode Increases / decreases chip"/>
          <p:cNvSpPr/>
          <p:nvPr/>
        </p:nvSpPr>
        <p:spPr>
          <a:xfrm>
            <a:off x="1325880" y="1234440"/>
            <a:ext cx="1737360" cy="292608"/>
          </a:xfrm>
          <a:prstGeom prst="roundRect">
            <a:avLst>
              <a:gd name="adj" fmla="val 50000"/>
            </a:avLst>
          </a:prstGeom>
          <a:solidFill>
            <a:schemeClr val="tx1"/>
          </a:solidFill>
          <a:ln/>
        </p:spPr>
        <p:txBody>
          <a:bodyPr/>
          <a:lstStyle/>
          <a:p>
            <a:endParaRPr lang="en-US"/>
          </a:p>
        </p:txBody>
      </p:sp>
      <p:sp>
        <p:nvSpPr>
          <p:cNvPr id="6" name="group mode Increases / decreases"/>
          <p:cNvSpPr txBox="1"/>
          <p:nvPr/>
        </p:nvSpPr>
        <p:spPr>
          <a:xfrm>
            <a:off x="1325880" y="1234440"/>
            <a:ext cx="1737360" cy="292608"/>
          </a:xfrm>
          <a:prstGeom prst="rect">
            <a:avLst/>
          </a:prstGeom>
          <a:noFill/>
          <a:ln/>
        </p:spPr>
        <p:txBody>
          <a:bodyPr wrap="square" lIns="0" tIns="0" rIns="0" bIns="0" rtlCol="0" anchor="ctr"/>
          <a:lstStyle/>
          <a:p>
            <a:pPr marL="0" indent="0" algn="ctr">
              <a:buNone/>
            </a:pPr>
            <a:r>
              <a:rPr lang="en-US" sz="1100" b="1" dirty="0">
                <a:solidFill>
                  <a:schemeClr val="bg1"/>
                </a:solidFill>
              </a:rPr>
              <a:t>Increases / decreases</a:t>
            </a:r>
            <a:endParaRPr lang="en-US" sz="1100" dirty="0"/>
          </a:p>
        </p:txBody>
      </p:sp>
      <p:sp>
        <p:nvSpPr>
          <p:cNvPr id="7" name="group mode Custom chip"/>
          <p:cNvSpPr/>
          <p:nvPr/>
        </p:nvSpPr>
        <p:spPr>
          <a:xfrm>
            <a:off x="3154680" y="1234440"/>
            <a:ext cx="868680" cy="292608"/>
          </a:xfrm>
          <a:prstGeom prst="roundRect">
            <a:avLst>
              <a:gd name="adj" fmla="val 50000"/>
            </a:avLst>
          </a:prstGeom>
          <a:solidFill>
            <a:schemeClr val="bg2"/>
          </a:solidFill>
          <a:ln/>
        </p:spPr>
        <p:txBody>
          <a:bodyPr/>
          <a:lstStyle/>
          <a:p>
            <a:endParaRPr lang="en-US"/>
          </a:p>
        </p:txBody>
      </p:sp>
      <p:sp>
        <p:nvSpPr>
          <p:cNvPr id="8" name="group mode Custom"/>
          <p:cNvSpPr txBox="1"/>
          <p:nvPr/>
        </p:nvSpPr>
        <p:spPr>
          <a:xfrm>
            <a:off x="3154680" y="1234440"/>
            <a:ext cx="868680" cy="292608"/>
          </a:xfrm>
          <a:prstGeom prst="rect">
            <a:avLst/>
          </a:prstGeom>
          <a:noFill/>
          <a:ln/>
        </p:spPr>
        <p:txBody>
          <a:bodyPr wrap="square" lIns="0" tIns="0" rIns="0" bIns="0" rtlCol="0" anchor="ctr"/>
          <a:lstStyle/>
          <a:p>
            <a:pPr marL="0" indent="0" algn="ctr">
              <a:buNone/>
            </a:pPr>
            <a:r>
              <a:rPr lang="en-US" sz="1100" b="1" dirty="0">
                <a:solidFill>
                  <a:schemeClr val="tx1"/>
                </a:solidFill>
              </a:rPr>
              <a:t>Custom</a:t>
            </a:r>
            <a:endParaRPr lang="en-US" sz="1100" dirty="0"/>
          </a:p>
        </p:txBody>
      </p:sp>
      <p:sp>
        <p:nvSpPr>
          <p:cNvPr id="9" name="groups bullets"/>
          <p:cNvSpPr txBox="1"/>
          <p:nvPr/>
        </p:nvSpPr>
        <p:spPr>
          <a:xfrm>
            <a:off x="457200" y="1783080"/>
            <a:ext cx="4937760" cy="160020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chemeClr val="tx1"/>
                </a:solidFill>
              </a:rPr>
              <a:t>Increases / decreases:  </a:t>
            </a:r>
            <a:r>
              <a:rPr lang="en-US" sz="1400" dirty="0">
                <a:solidFill>
                  <a:schemeClr val="tx2"/>
                </a:solidFill>
              </a:rPr>
              <a:t>each run of ups or downs gets a line and a total, like "Incoming · +412.6".</a:t>
            </a:r>
            <a:endParaRPr lang="en-US" sz="1400" dirty="0"/>
          </a:p>
          <a:p>
            <a:pPr marL="177800" indent="-177800">
              <a:spcAft>
                <a:spcPts val="800"/>
              </a:spcAft>
              <a:buSzPct val="100000"/>
              <a:buChar char="•"/>
            </a:pPr>
            <a:r>
              <a:rPr lang="en-US" sz="1400" b="1" dirty="0">
                <a:solidFill>
                  <a:schemeClr val="tx1"/>
                </a:solidFill>
              </a:rPr>
              <a:t>Custom:  </a:t>
            </a:r>
            <a:r>
              <a:rPr lang="en-US" sz="1400" dirty="0">
                <a:solidFill>
                  <a:schemeClr val="tx2"/>
                </a:solidFill>
              </a:rPr>
              <a:t>name your own groups and assign bars to them.</a:t>
            </a:r>
            <a:endParaRPr lang="en-US" sz="1400" dirty="0"/>
          </a:p>
          <a:p>
            <a:pPr marL="177800" indent="-177800">
              <a:spcAft>
                <a:spcPts val="800"/>
              </a:spcAft>
              <a:buSzPct val="100000"/>
              <a:buChar char="•"/>
            </a:pPr>
            <a:r>
              <a:rPr lang="en-US" sz="1400" b="1" dirty="0">
                <a:solidFill>
                  <a:schemeClr val="tx1"/>
                </a:solidFill>
              </a:rPr>
              <a:t>Per group:  </a:t>
            </a:r>
            <a:r>
              <a:rPr lang="en-US" sz="1400" dirty="0">
                <a:solidFill>
                  <a:schemeClr val="tx2"/>
                </a:solidFill>
              </a:rPr>
              <a:t>text, colour, show total.</a:t>
            </a:r>
            <a:endParaRPr lang="en-US" sz="1400" dirty="0"/>
          </a:p>
          <a:p>
            <a:pPr marL="177800" indent="-177800">
              <a:spcAft>
                <a:spcPts val="800"/>
              </a:spcAft>
              <a:buSzPct val="100000"/>
              <a:buChar char="•"/>
            </a:pPr>
            <a:r>
              <a:rPr lang="en-US" sz="1400" b="1" dirty="0">
                <a:solidFill>
                  <a:schemeClr val="tx1"/>
                </a:solidFill>
              </a:rPr>
              <a:t>Style:  </a:t>
            </a:r>
            <a:r>
              <a:rPr lang="en-US" sz="1400" dirty="0">
                <a:solidFill>
                  <a:schemeClr val="tx2"/>
                </a:solidFill>
              </a:rPr>
              <a:t>solid, dashed, dotted or bracket lines, width, text size, optional shading.</a:t>
            </a:r>
            <a:endParaRPr lang="en-US" sz="1400" dirty="0"/>
          </a:p>
        </p:txBody>
      </p:sp>
      <p:sp>
        <p:nvSpPr>
          <p:cNvPr id="10" name="Groups example frame"/>
          <p:cNvSpPr/>
          <p:nvPr/>
        </p:nvSpPr>
        <p:spPr>
          <a:xfrm>
            <a:off x="493776" y="3529584"/>
            <a:ext cx="2029968" cy="1091184"/>
          </a:xfrm>
          <a:prstGeom prst="roundRect">
            <a:avLst>
              <a:gd name="adj" fmla="val 6704"/>
            </a:avLst>
          </a:prstGeom>
          <a:solidFill>
            <a:schemeClr val="bg1"/>
          </a:solidFill>
          <a:ln w="9525">
            <a:solidFill>
              <a:schemeClr val="accent5"/>
            </a:solidFill>
            <a:prstDash val="solid"/>
          </a:ln>
          <a:effectLst>
            <a:outerShdw blurRad="101600" dist="25400" dir="5400000" algn="bl" rotWithShape="0">
              <a:srgbClr val="000000">
                <a:alpha val="16000"/>
              </a:srgbClr>
            </a:outerShdw>
          </a:effectLst>
        </p:spPr>
        <p:txBody>
          <a:bodyPr/>
          <a:lstStyle/>
          <a:p>
            <a:endParaRPr lang="en-US"/>
          </a:p>
        </p:txBody>
      </p:sp>
      <p:pic>
        <p:nvPicPr>
          <p:cNvPr id="11" name="Groups example" descr="Waterfall example: Groups example"/>
          <p:cNvPicPr>
            <a:picLocks noChangeAspect="1"/>
          </p:cNvPicPr>
          <p:nvPr/>
        </p:nvPicPr>
        <p:blipFill>
          <a:blip r:embed="rId3"/>
          <a:stretch>
            <a:fillRect/>
          </a:stretch>
        </p:blipFill>
        <p:spPr>
          <a:xfrm>
            <a:off x="548640" y="3584448"/>
            <a:ext cx="1920240" cy="981456"/>
          </a:xfrm>
          <a:prstGeom prst="rect">
            <a:avLst/>
          </a:prstGeom>
        </p:spPr>
      </p:pic>
      <p:sp>
        <p:nvSpPr>
          <p:cNvPr id="12" name="groups caption"/>
          <p:cNvSpPr txBox="1"/>
          <p:nvPr/>
        </p:nvSpPr>
        <p:spPr>
          <a:xfrm>
            <a:off x="2697480" y="3703320"/>
            <a:ext cx="2560320" cy="731520"/>
          </a:xfrm>
          <a:prstGeom prst="rect">
            <a:avLst/>
          </a:prstGeom>
          <a:noFill/>
          <a:ln/>
        </p:spPr>
        <p:txBody>
          <a:bodyPr wrap="square" lIns="0" tIns="0" rIns="0" bIns="0" rtlCol="0" anchor="ctr"/>
          <a:lstStyle/>
          <a:p>
            <a:pPr marL="0" indent="0">
              <a:buNone/>
            </a:pPr>
            <a:r>
              <a:rPr lang="en-US" sz="1200" i="1" dirty="0">
                <a:solidFill>
                  <a:schemeClr val="tx2"/>
                </a:solidFill>
              </a:rPr>
              <a:t>Incoming and Outgoing group lines under the bars</a:t>
            </a:r>
            <a:endParaRPr lang="en-US" sz="1200" dirty="0"/>
          </a:p>
        </p:txBody>
      </p:sp>
      <p:sp>
        <p:nvSpPr>
          <p:cNvPr id="13" name="Groups tab frame"/>
          <p:cNvSpPr/>
          <p:nvPr/>
        </p:nvSpPr>
        <p:spPr>
          <a:xfrm>
            <a:off x="5852160" y="1097280"/>
            <a:ext cx="2777595" cy="3520440"/>
          </a:xfrm>
          <a:prstGeom prst="rect">
            <a:avLst/>
          </a:prstGeom>
          <a:solidFill>
            <a:schemeClr val="bg1"/>
          </a:solidFill>
          <a:ln w="9525">
            <a:solidFill>
              <a:schemeClr val="accent5"/>
            </a:solidFill>
            <a:prstDash val="solid"/>
          </a:ln>
          <a:effectLst>
            <a:outerShdw blurRad="101600" dist="25400" dir="5400000" algn="bl" rotWithShape="0">
              <a:srgbClr val="000000">
                <a:alpha val="16000"/>
              </a:srgbClr>
            </a:outerShdw>
          </a:effectLst>
        </p:spPr>
        <p:txBody>
          <a:bodyPr/>
          <a:lstStyle/>
          <a:p>
            <a:endParaRPr lang="en-US"/>
          </a:p>
        </p:txBody>
      </p:sp>
      <p:pic>
        <p:nvPicPr>
          <p:cNvPr id="14" name="Groups tab" descr="Format dialog: Groups tab"/>
          <p:cNvPicPr>
            <a:picLocks noChangeAspect="1"/>
          </p:cNvPicPr>
          <p:nvPr/>
        </p:nvPicPr>
        <p:blipFill>
          <a:blip r:embed="rId4"/>
          <a:stretch>
            <a:fillRect/>
          </a:stretch>
        </p:blipFill>
        <p:spPr>
          <a:xfrm>
            <a:off x="5852160" y="1097280"/>
            <a:ext cx="2777595" cy="3520440"/>
          </a:xfrm>
          <a:prstGeom prst="rect">
            <a:avLst/>
          </a:prstGeom>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Axes: where the bars start</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5029200" cy="2011680"/>
        </p:xfrm>
        <a:graphic>
          <a:graphicData uri="http://schemas.openxmlformats.org/drawingml/2006/table">
            <a:tbl>
              <a:tblPr/>
              <a:tblGrid>
                <a:gridCol w="155448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tblGrid>
              <a:tr h="502920">
                <a:tc>
                  <a:txBody>
                    <a:bodyPr/>
                    <a:lstStyle/>
                    <a:p>
                      <a:pPr marL="0" indent="0">
                        <a:buNone/>
                      </a:pPr>
                      <a:r>
                        <a:rPr lang="en-US" sz="1200" b="1" dirty="0">
                          <a:solidFill>
                            <a:schemeClr val="bg1"/>
                          </a:solidFill>
                        </a:rPr>
                        <a:t>Starts at</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Effect</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502920">
                <a:tc>
                  <a:txBody>
                    <a:bodyPr/>
                    <a:lstStyle/>
                    <a:p>
                      <a:pPr marL="0" indent="0">
                        <a:buNone/>
                      </a:pPr>
                      <a:r>
                        <a:rPr lang="en-US" sz="1200" dirty="0">
                          <a:solidFill>
                            <a:schemeClr val="tx1"/>
                          </a:solidFill>
                        </a:rPr>
                        <a:t>Close to the data</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tcPr>
                </a:tc>
                <a:tc>
                  <a:txBody>
                    <a:bodyPr/>
                    <a:lstStyle/>
                    <a:p>
                      <a:pPr marL="0" indent="0">
                        <a:buNone/>
                      </a:pPr>
                      <a:r>
                        <a:rPr lang="en-US" sz="1200" dirty="0">
                          <a:solidFill>
                            <a:schemeClr val="tx2"/>
                          </a:solidFill>
                        </a:rPr>
                        <a:t>Small changes stay visible. Start and End are cut short and get the clipped marker.</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1200" dirty="0">
                          <a:solidFill>
                            <a:schemeClr val="tx1"/>
                          </a:solidFill>
                        </a:rPr>
                        <a:t>Zero</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tcPr>
                </a:tc>
                <a:tc>
                  <a:txBody>
                    <a:bodyPr/>
                    <a:lstStyle/>
                    <a:p>
                      <a:pPr marL="0" indent="0">
                        <a:buNone/>
                      </a:pPr>
                      <a:r>
                        <a:rPr lang="en-US" sz="1200" dirty="0">
                          <a:solidFill>
                            <a:schemeClr val="tx2"/>
                          </a:solidFill>
                        </a:rPr>
                        <a:t>Full-length bars, no markers. Small changes look tiny.</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1200" dirty="0">
                          <a:solidFill>
                            <a:schemeClr val="tx1"/>
                          </a:solidFill>
                        </a:rPr>
                        <a:t>Fixed value</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tcPr>
                </a:tc>
                <a:tc>
                  <a:txBody>
                    <a:bodyPr/>
                    <a:lstStyle/>
                    <a:p>
                      <a:pPr marL="0" indent="0">
                        <a:buNone/>
                      </a:pPr>
                      <a:r>
                        <a:rPr lang="en-US" sz="1200" dirty="0">
                          <a:solidFill>
                            <a:schemeClr val="tx2"/>
                          </a:solidFill>
                        </a:rPr>
                        <a:t>The same axis on every filter.</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 name="axes bullets"/>
          <p:cNvSpPr txBox="1"/>
          <p:nvPr/>
        </p:nvSpPr>
        <p:spPr>
          <a:xfrm>
            <a:off x="457200" y="3429000"/>
            <a:ext cx="5029200" cy="1097280"/>
          </a:xfrm>
          <a:prstGeom prst="rect">
            <a:avLst/>
          </a:prstGeom>
          <a:noFill/>
          <a:ln/>
        </p:spPr>
        <p:txBody>
          <a:bodyPr wrap="square" lIns="0" tIns="0" rIns="0" bIns="0" rtlCol="0" anchor="t"/>
          <a:lstStyle/>
          <a:p>
            <a:pPr marL="177800" indent="-177800">
              <a:spcAft>
                <a:spcPts val="600"/>
              </a:spcAft>
              <a:buSzPct val="100000"/>
              <a:buChar char="•"/>
            </a:pPr>
            <a:r>
              <a:rPr lang="en-US" sz="1300" b="1" dirty="0">
                <a:solidFill>
                  <a:schemeClr val="tx1"/>
                </a:solidFill>
              </a:rPr>
              <a:t>Vertical:  </a:t>
            </a:r>
            <a:r>
              <a:rPr lang="en-US" sz="1300" dirty="0">
                <a:solidFill>
                  <a:schemeClr val="tx2"/>
                </a:solidFill>
              </a:rPr>
              <a:t>maximum, tick count, side, title such as SAR M, font, own number format.</a:t>
            </a:r>
            <a:endParaRPr lang="en-US" sz="1300" dirty="0"/>
          </a:p>
          <a:p>
            <a:pPr marL="177800" indent="-177800">
              <a:spcAft>
                <a:spcPts val="600"/>
              </a:spcAft>
              <a:buSzPct val="100000"/>
              <a:buChar char="•"/>
            </a:pPr>
            <a:r>
              <a:rPr lang="en-US" sz="1300" b="1" dirty="0">
                <a:solidFill>
                  <a:schemeClr val="tx1"/>
                </a:solidFill>
              </a:rPr>
              <a:t>Horizontal:  </a:t>
            </a:r>
            <a:r>
              <a:rPr lang="en-US" sz="1300" dirty="0">
                <a:solidFill>
                  <a:schemeClr val="tx2"/>
                </a:solidFill>
              </a:rPr>
              <a:t>labels flat (wrapping), angled or vertical, max lines.</a:t>
            </a:r>
            <a:endParaRPr lang="en-US" sz="1300" dirty="0"/>
          </a:p>
        </p:txBody>
      </p:sp>
      <p:sp>
        <p:nvSpPr>
          <p:cNvPr id="5" name="Axes tab frame"/>
          <p:cNvSpPr/>
          <p:nvPr/>
        </p:nvSpPr>
        <p:spPr>
          <a:xfrm>
            <a:off x="5852160" y="1097280"/>
            <a:ext cx="2777595" cy="3520440"/>
          </a:xfrm>
          <a:prstGeom prst="rect">
            <a:avLst/>
          </a:prstGeom>
          <a:solidFill>
            <a:schemeClr val="bg1"/>
          </a:solidFill>
          <a:ln w="9525">
            <a:solidFill>
              <a:schemeClr val="accent5"/>
            </a:solidFill>
            <a:prstDash val="solid"/>
          </a:ln>
          <a:effectLst>
            <a:outerShdw blurRad="101600" dist="25400" dir="5400000" algn="bl" rotWithShape="0">
              <a:srgbClr val="000000">
                <a:alpha val="16000"/>
              </a:srgbClr>
            </a:outerShdw>
          </a:effectLst>
        </p:spPr>
        <p:txBody>
          <a:bodyPr/>
          <a:lstStyle/>
          <a:p>
            <a:endParaRPr lang="en-US"/>
          </a:p>
        </p:txBody>
      </p:sp>
      <p:pic>
        <p:nvPicPr>
          <p:cNvPr id="6" name="Axes tab" descr="Format dialog: Axes tab"/>
          <p:cNvPicPr>
            <a:picLocks noChangeAspect="1"/>
          </p:cNvPicPr>
          <p:nvPr/>
        </p:nvPicPr>
        <p:blipFill>
          <a:blip r:embed="rId3"/>
          <a:stretch>
            <a:fillRect/>
          </a:stretch>
        </p:blipFill>
        <p:spPr>
          <a:xfrm>
            <a:off x="5852160" y="1097280"/>
            <a:ext cx="2777595" cy="3520440"/>
          </a:xfrm>
          <a:prstGeom prst="rect">
            <a:avLst/>
          </a:prstGeom>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Numbers: one format or one per label</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5029200" cy="2304288"/>
        </p:xfrm>
        <a:graphic>
          <a:graphicData uri="http://schemas.openxmlformats.org/drawingml/2006/table">
            <a:tbl>
              <a:tblPr/>
              <a:tblGrid>
                <a:gridCol w="265176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tblGrid>
              <a:tr h="384048">
                <a:tc>
                  <a:txBody>
                    <a:bodyPr/>
                    <a:lstStyle/>
                    <a:p>
                      <a:pPr marL="0" indent="0">
                        <a:buNone/>
                      </a:pPr>
                      <a:r>
                        <a:rPr lang="en-US" sz="1200" b="1" dirty="0">
                          <a:solidFill>
                            <a:schemeClr val="bg1"/>
                          </a:solidFill>
                        </a:rPr>
                        <a:t>Setting</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Shows as</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384048">
                <a:tc>
                  <a:txBody>
                    <a:bodyPr/>
                    <a:lstStyle/>
                    <a:p>
                      <a:pPr marL="0" indent="0">
                        <a:buNone/>
                      </a:pPr>
                      <a:r>
                        <a:rPr lang="en-US" sz="1200" dirty="0">
                          <a:solidFill>
                            <a:schemeClr val="tx1"/>
                          </a:solidFill>
                        </a:rPr>
                        <a:t>Dynamic (K / M / B), 1 decimal</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tcPr>
                </a:tc>
                <a:tc>
                  <a:txBody>
                    <a:bodyPr/>
                    <a:lstStyle/>
                    <a:p>
                      <a:pPr marL="0" indent="0">
                        <a:buNone/>
                      </a:pPr>
                      <a:r>
                        <a:rPr lang="en-US" sz="1200" b="1" dirty="0">
                          <a:solidFill>
                            <a:schemeClr val="tx1"/>
                          </a:solidFill>
                        </a:rPr>
                        <a:t>1.3K   +262.1M</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200" dirty="0">
                          <a:solidFill>
                            <a:schemeClr val="tx1"/>
                          </a:solidFill>
                        </a:rPr>
                        <a:t>"+" on increases</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tcPr>
                </a:tc>
                <a:tc>
                  <a:txBody>
                    <a:bodyPr/>
                    <a:lstStyle/>
                    <a:p>
                      <a:pPr marL="0" indent="0">
                        <a:buNone/>
                      </a:pPr>
                      <a:r>
                        <a:rPr lang="en-US" sz="1200" b="1" dirty="0">
                          <a:solidFill>
                            <a:schemeClr val="tx1"/>
                          </a:solidFill>
                        </a:rPr>
                        <a:t>+262.1</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200" dirty="0">
                          <a:solidFill>
                            <a:schemeClr val="tx1"/>
                          </a:solidFill>
                        </a:rPr>
                        <a:t>Negatives: − / - / ( )</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tcPr>
                </a:tc>
                <a:tc>
                  <a:txBody>
                    <a:bodyPr/>
                    <a:lstStyle/>
                    <a:p>
                      <a:pPr marL="0" indent="0">
                        <a:buNone/>
                      </a:pPr>
                      <a:r>
                        <a:rPr lang="en-US" sz="1200" b="1" dirty="0">
                          <a:solidFill>
                            <a:schemeClr val="tx1"/>
                          </a:solidFill>
                        </a:rPr>
                        <a:t>−201.4   -201.4   (201.4)</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200" dirty="0">
                          <a:solidFill>
                            <a:schemeClr val="tx1"/>
                          </a:solidFill>
                        </a:rPr>
                        <a:t>Percentage, 0–1 ratio</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tcPr>
                </a:tc>
                <a:tc>
                  <a:txBody>
                    <a:bodyPr/>
                    <a:lstStyle/>
                    <a:p>
                      <a:pPr marL="0" indent="0">
                        <a:buNone/>
                      </a:pPr>
                      <a:r>
                        <a:rPr lang="en-US" sz="1200" b="1" dirty="0">
                          <a:solidFill>
                            <a:schemeClr val="tx1"/>
                          </a:solidFill>
                        </a:rPr>
                        <a:t>45.2%</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200" dirty="0">
                          <a:solidFill>
                            <a:schemeClr val="tx1"/>
                          </a:solidFill>
                        </a:rPr>
                        <a:t>Unit after the number</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tcPr>
                </a:tc>
                <a:tc>
                  <a:txBody>
                    <a:bodyPr/>
                    <a:lstStyle/>
                    <a:p>
                      <a:pPr marL="0" indent="0">
                        <a:buNone/>
                      </a:pPr>
                      <a:r>
                        <a:rPr lang="en-US" sz="1200" b="1" dirty="0">
                          <a:solidFill>
                            <a:schemeClr val="tx1"/>
                          </a:solidFill>
                        </a:rPr>
                        <a:t>262.1 SAR</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numbers scope"/>
          <p:cNvSpPr txBox="1"/>
          <p:nvPr/>
        </p:nvSpPr>
        <p:spPr>
          <a:xfrm>
            <a:off x="457200" y="3611880"/>
            <a:ext cx="5029200" cy="822960"/>
          </a:xfrm>
          <a:prstGeom prst="rect">
            <a:avLst/>
          </a:prstGeom>
          <a:noFill/>
          <a:ln/>
        </p:spPr>
        <p:txBody>
          <a:bodyPr wrap="square" lIns="0" tIns="0" rIns="0" bIns="0" rtlCol="0" anchor="t"/>
          <a:lstStyle/>
          <a:p>
            <a:pPr marL="0" indent="0">
              <a:buNone/>
            </a:pPr>
            <a:r>
              <a:rPr lang="en-US" sz="1250" b="1" dirty="0">
                <a:solidFill>
                  <a:schemeClr val="tx1"/>
                </a:solidFill>
              </a:rPr>
              <a:t>All numbers the same </a:t>
            </a:r>
            <a:r>
              <a:rPr lang="en-US" sz="1250" dirty="0">
                <a:solidFill>
                  <a:schemeClr val="tx2"/>
                </a:solidFill>
              </a:rPr>
              <a:t>uses one format everywhere. </a:t>
            </a:r>
            <a:r>
              <a:rPr lang="en-US" sz="1250" b="1" dirty="0">
                <a:solidFill>
                  <a:schemeClr val="tx1"/>
                </a:solidFill>
              </a:rPr>
              <a:t>Each label its own </a:t>
            </a:r>
            <a:r>
              <a:rPr lang="en-US" sz="1250" dirty="0">
                <a:solidFill>
                  <a:schemeClr val="tx2"/>
                </a:solidFill>
              </a:rPr>
              <a:t>gives every total, breakdown and group total its own editor.</a:t>
            </a:r>
            <a:endParaRPr lang="en-US" sz="1250" dirty="0"/>
          </a:p>
        </p:txBody>
      </p:sp>
      <p:sp>
        <p:nvSpPr>
          <p:cNvPr id="5" name="Numbers tab frame"/>
          <p:cNvSpPr/>
          <p:nvPr/>
        </p:nvSpPr>
        <p:spPr>
          <a:xfrm>
            <a:off x="5852160" y="1097280"/>
            <a:ext cx="2777595" cy="3520440"/>
          </a:xfrm>
          <a:prstGeom prst="rect">
            <a:avLst/>
          </a:prstGeom>
          <a:solidFill>
            <a:schemeClr val="bg1"/>
          </a:solidFill>
          <a:ln w="9525">
            <a:solidFill>
              <a:schemeClr val="accent5"/>
            </a:solidFill>
            <a:prstDash val="solid"/>
          </a:ln>
          <a:effectLst>
            <a:outerShdw blurRad="101600" dist="25400" dir="5400000" algn="bl" rotWithShape="0">
              <a:srgbClr val="000000">
                <a:alpha val="16000"/>
              </a:srgbClr>
            </a:outerShdw>
          </a:effectLst>
        </p:spPr>
        <p:txBody>
          <a:bodyPr/>
          <a:lstStyle/>
          <a:p>
            <a:endParaRPr lang="en-US"/>
          </a:p>
        </p:txBody>
      </p:sp>
      <p:pic>
        <p:nvPicPr>
          <p:cNvPr id="6" name="Numbers tab" descr="Format dialog: Numbers tab"/>
          <p:cNvPicPr>
            <a:picLocks noChangeAspect="1"/>
          </p:cNvPicPr>
          <p:nvPr/>
        </p:nvPicPr>
        <p:blipFill>
          <a:blip r:embed="rId3"/>
          <a:stretch>
            <a:fillRect/>
          </a:stretch>
        </p:blipFill>
        <p:spPr>
          <a:xfrm>
            <a:off x="5852160" y="1097280"/>
            <a:ext cx="2777595" cy="3520440"/>
          </a:xfrm>
          <a:prstGeom prst="rect">
            <a:avLst/>
          </a:prstGeom>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Lines: gridlines, connectors and zero</a:t>
            </a:r>
            <a:endParaRPr lang="en-US" sz="3000" dirty="0"/>
          </a:p>
        </p:txBody>
      </p:sp>
      <p:sp>
        <p:nvSpPr>
          <p:cNvPr id="3" name="line card 1"/>
          <p:cNvSpPr/>
          <p:nvPr/>
        </p:nvSpPr>
        <p:spPr>
          <a:xfrm>
            <a:off x="457200" y="1234440"/>
            <a:ext cx="2377440" cy="1143000"/>
          </a:xfrm>
          <a:prstGeom prst="roundRect">
            <a:avLst>
              <a:gd name="adj" fmla="val 6400"/>
            </a:avLst>
          </a:prstGeom>
          <a:solidFill>
            <a:schemeClr val="bg2"/>
          </a:solidFill>
          <a:ln/>
        </p:spPr>
        <p:txBody>
          <a:bodyPr/>
          <a:lstStyle/>
          <a:p>
            <a:endParaRPr lang="en-US"/>
          </a:p>
        </p:txBody>
      </p:sp>
      <p:sp>
        <p:nvSpPr>
          <p:cNvPr id="4" name="line card text 1"/>
          <p:cNvSpPr txBox="1"/>
          <p:nvPr/>
        </p:nvSpPr>
        <p:spPr>
          <a:xfrm>
            <a:off x="640080" y="1417320"/>
            <a:ext cx="2011680" cy="777240"/>
          </a:xfrm>
          <a:prstGeom prst="rect">
            <a:avLst/>
          </a:prstGeom>
          <a:noFill/>
          <a:ln/>
        </p:spPr>
        <p:txBody>
          <a:bodyPr wrap="square" lIns="0" tIns="0" rIns="0" bIns="0" rtlCol="0" anchor="t"/>
          <a:lstStyle/>
          <a:p>
            <a:pPr marL="0" indent="0">
              <a:buNone/>
            </a:pPr>
            <a:r>
              <a:rPr lang="en-US" sz="1400" b="1" dirty="0">
                <a:solidFill>
                  <a:schemeClr val="tx1"/>
                </a:solidFill>
              </a:rPr>
              <a:t>Horizontal gridlines</a:t>
            </a:r>
            <a:endParaRPr lang="en-US" sz="1400" dirty="0"/>
          </a:p>
          <a:p>
            <a:pPr marL="0" indent="0">
              <a:buNone/>
            </a:pPr>
            <a:r>
              <a:rPr lang="en-US" sz="1200" dirty="0">
                <a:solidFill>
                  <a:schemeClr val="tx2"/>
                </a:solidFill>
              </a:rPr>
              <a:t>On by default, light grey</a:t>
            </a:r>
            <a:endParaRPr lang="en-US" sz="1400" dirty="0"/>
          </a:p>
        </p:txBody>
      </p:sp>
      <p:sp>
        <p:nvSpPr>
          <p:cNvPr id="5" name="line card 2"/>
          <p:cNvSpPr/>
          <p:nvPr/>
        </p:nvSpPr>
        <p:spPr>
          <a:xfrm>
            <a:off x="3017520" y="1234440"/>
            <a:ext cx="2377440" cy="1143000"/>
          </a:xfrm>
          <a:prstGeom prst="roundRect">
            <a:avLst>
              <a:gd name="adj" fmla="val 6400"/>
            </a:avLst>
          </a:prstGeom>
          <a:solidFill>
            <a:schemeClr val="bg2"/>
          </a:solidFill>
          <a:ln/>
        </p:spPr>
        <p:txBody>
          <a:bodyPr/>
          <a:lstStyle/>
          <a:p>
            <a:endParaRPr lang="en-US"/>
          </a:p>
        </p:txBody>
      </p:sp>
      <p:sp>
        <p:nvSpPr>
          <p:cNvPr id="6" name="line card text 2"/>
          <p:cNvSpPr txBox="1"/>
          <p:nvPr/>
        </p:nvSpPr>
        <p:spPr>
          <a:xfrm>
            <a:off x="3200400" y="1417320"/>
            <a:ext cx="2011680" cy="777240"/>
          </a:xfrm>
          <a:prstGeom prst="rect">
            <a:avLst/>
          </a:prstGeom>
          <a:noFill/>
          <a:ln/>
        </p:spPr>
        <p:txBody>
          <a:bodyPr wrap="square" lIns="0" tIns="0" rIns="0" bIns="0" rtlCol="0" anchor="t"/>
          <a:lstStyle/>
          <a:p>
            <a:pPr marL="0" indent="0">
              <a:buNone/>
            </a:pPr>
            <a:r>
              <a:rPr lang="en-US" sz="1400" b="1" dirty="0">
                <a:solidFill>
                  <a:schemeClr val="tx1"/>
                </a:solidFill>
              </a:rPr>
              <a:t>Vertical gridlines</a:t>
            </a:r>
            <a:endParaRPr lang="en-US" sz="1400" dirty="0"/>
          </a:p>
          <a:p>
            <a:pPr marL="0" indent="0">
              <a:buNone/>
            </a:pPr>
            <a:r>
              <a:rPr lang="en-US" sz="1200" dirty="0">
                <a:solidFill>
                  <a:schemeClr val="tx2"/>
                </a:solidFill>
              </a:rPr>
              <a:t>Between bars, off by default</a:t>
            </a:r>
            <a:endParaRPr lang="en-US" sz="1400" dirty="0"/>
          </a:p>
        </p:txBody>
      </p:sp>
      <p:sp>
        <p:nvSpPr>
          <p:cNvPr id="7" name="line card 3"/>
          <p:cNvSpPr/>
          <p:nvPr/>
        </p:nvSpPr>
        <p:spPr>
          <a:xfrm>
            <a:off x="457200" y="2560320"/>
            <a:ext cx="2377440" cy="1143000"/>
          </a:xfrm>
          <a:prstGeom prst="roundRect">
            <a:avLst>
              <a:gd name="adj" fmla="val 6400"/>
            </a:avLst>
          </a:prstGeom>
          <a:solidFill>
            <a:schemeClr val="bg2"/>
          </a:solidFill>
          <a:ln/>
        </p:spPr>
        <p:txBody>
          <a:bodyPr/>
          <a:lstStyle/>
          <a:p>
            <a:endParaRPr lang="en-US"/>
          </a:p>
        </p:txBody>
      </p:sp>
      <p:sp>
        <p:nvSpPr>
          <p:cNvPr id="8" name="line card text 3"/>
          <p:cNvSpPr txBox="1"/>
          <p:nvPr/>
        </p:nvSpPr>
        <p:spPr>
          <a:xfrm>
            <a:off x="640080" y="2743200"/>
            <a:ext cx="2011680" cy="777240"/>
          </a:xfrm>
          <a:prstGeom prst="rect">
            <a:avLst/>
          </a:prstGeom>
          <a:noFill/>
          <a:ln/>
        </p:spPr>
        <p:txBody>
          <a:bodyPr wrap="square" lIns="0" tIns="0" rIns="0" bIns="0" rtlCol="0" anchor="t"/>
          <a:lstStyle/>
          <a:p>
            <a:pPr marL="0" indent="0">
              <a:buNone/>
            </a:pPr>
            <a:r>
              <a:rPr lang="en-US" sz="1400" b="1" dirty="0">
                <a:solidFill>
                  <a:schemeClr val="tx1"/>
                </a:solidFill>
              </a:rPr>
              <a:t>Connector lines</a:t>
            </a:r>
            <a:endParaRPr lang="en-US" sz="1400" dirty="0"/>
          </a:p>
          <a:p>
            <a:pPr marL="0" indent="0">
              <a:buNone/>
            </a:pPr>
            <a:r>
              <a:rPr lang="en-US" sz="1200" dirty="0">
                <a:solidFill>
                  <a:schemeClr val="tx2"/>
                </a:solidFill>
              </a:rPr>
              <a:t>Dashed links from bar to bar</a:t>
            </a:r>
            <a:endParaRPr lang="en-US" sz="1400" dirty="0"/>
          </a:p>
        </p:txBody>
      </p:sp>
      <p:sp>
        <p:nvSpPr>
          <p:cNvPr id="9" name="line card 4"/>
          <p:cNvSpPr/>
          <p:nvPr/>
        </p:nvSpPr>
        <p:spPr>
          <a:xfrm>
            <a:off x="3017520" y="2560320"/>
            <a:ext cx="2377440" cy="1143000"/>
          </a:xfrm>
          <a:prstGeom prst="roundRect">
            <a:avLst>
              <a:gd name="adj" fmla="val 6400"/>
            </a:avLst>
          </a:prstGeom>
          <a:solidFill>
            <a:schemeClr val="bg2"/>
          </a:solidFill>
          <a:ln/>
        </p:spPr>
        <p:txBody>
          <a:bodyPr/>
          <a:lstStyle/>
          <a:p>
            <a:endParaRPr lang="en-US"/>
          </a:p>
        </p:txBody>
      </p:sp>
      <p:sp>
        <p:nvSpPr>
          <p:cNvPr id="10" name="line card text 4"/>
          <p:cNvSpPr txBox="1"/>
          <p:nvPr/>
        </p:nvSpPr>
        <p:spPr>
          <a:xfrm>
            <a:off x="3200400" y="2743200"/>
            <a:ext cx="2011680" cy="777240"/>
          </a:xfrm>
          <a:prstGeom prst="rect">
            <a:avLst/>
          </a:prstGeom>
          <a:noFill/>
          <a:ln/>
        </p:spPr>
        <p:txBody>
          <a:bodyPr wrap="square" lIns="0" tIns="0" rIns="0" bIns="0" rtlCol="0" anchor="t"/>
          <a:lstStyle/>
          <a:p>
            <a:pPr marL="0" indent="0">
              <a:buNone/>
            </a:pPr>
            <a:r>
              <a:rPr lang="en-US" sz="1400" b="1" dirty="0">
                <a:solidFill>
                  <a:schemeClr val="tx1"/>
                </a:solidFill>
              </a:rPr>
              <a:t>Zero line</a:t>
            </a:r>
            <a:endParaRPr lang="en-US" sz="1400" dirty="0"/>
          </a:p>
          <a:p>
            <a:pPr marL="0" indent="0">
              <a:buNone/>
            </a:pPr>
            <a:r>
              <a:rPr lang="en-US" sz="1200" dirty="0">
                <a:solidFill>
                  <a:schemeClr val="tx2"/>
                </a:solidFill>
              </a:rPr>
              <a:t>Marks zero when bars cross it</a:t>
            </a:r>
            <a:endParaRPr lang="en-US" sz="1400" dirty="0"/>
          </a:p>
        </p:txBody>
      </p:sp>
      <p:sp>
        <p:nvSpPr>
          <p:cNvPr id="11" name="lines note"/>
          <p:cNvSpPr txBox="1"/>
          <p:nvPr/>
        </p:nvSpPr>
        <p:spPr>
          <a:xfrm>
            <a:off x="457200" y="3977640"/>
            <a:ext cx="4937760" cy="411480"/>
          </a:xfrm>
          <a:prstGeom prst="rect">
            <a:avLst/>
          </a:prstGeom>
          <a:noFill/>
          <a:ln/>
        </p:spPr>
        <p:txBody>
          <a:bodyPr wrap="square" lIns="0" tIns="0" rIns="0" bIns="0" rtlCol="0" anchor="ctr"/>
          <a:lstStyle/>
          <a:p>
            <a:pPr marL="0" indent="0">
              <a:buNone/>
            </a:pPr>
            <a:r>
              <a:rPr lang="en-US" sz="1250" dirty="0">
                <a:solidFill>
                  <a:schemeClr val="tx2"/>
                </a:solidFill>
              </a:rPr>
              <a:t>Each one: show or hide, colour, width, and solid, dashed or dotted.</a:t>
            </a:r>
            <a:endParaRPr lang="en-US" sz="1250" dirty="0"/>
          </a:p>
        </p:txBody>
      </p:sp>
      <p:sp>
        <p:nvSpPr>
          <p:cNvPr id="12" name="Lines tab frame"/>
          <p:cNvSpPr/>
          <p:nvPr/>
        </p:nvSpPr>
        <p:spPr>
          <a:xfrm>
            <a:off x="5852160" y="1097280"/>
            <a:ext cx="2777595" cy="3520440"/>
          </a:xfrm>
          <a:prstGeom prst="rect">
            <a:avLst/>
          </a:prstGeom>
          <a:solidFill>
            <a:schemeClr val="bg1"/>
          </a:solidFill>
          <a:ln w="9525">
            <a:solidFill>
              <a:schemeClr val="accent5"/>
            </a:solidFill>
            <a:prstDash val="solid"/>
          </a:ln>
          <a:effectLst>
            <a:outerShdw blurRad="101600" dist="25400" dir="5400000" algn="bl" rotWithShape="0">
              <a:srgbClr val="000000">
                <a:alpha val="16000"/>
              </a:srgbClr>
            </a:outerShdw>
          </a:effectLst>
        </p:spPr>
        <p:txBody>
          <a:bodyPr/>
          <a:lstStyle/>
          <a:p>
            <a:endParaRPr lang="en-US"/>
          </a:p>
        </p:txBody>
      </p:sp>
      <p:pic>
        <p:nvPicPr>
          <p:cNvPr id="13" name="Lines tab" descr="Format dialog: Lines tab"/>
          <p:cNvPicPr>
            <a:picLocks noChangeAspect="1"/>
          </p:cNvPicPr>
          <p:nvPr/>
        </p:nvPicPr>
        <p:blipFill>
          <a:blip r:embed="rId3"/>
          <a:stretch>
            <a:fillRect/>
          </a:stretch>
        </p:blipFill>
        <p:spPr>
          <a:xfrm>
            <a:off x="5852160" y="1097280"/>
            <a:ext cx="2777595" cy="3520440"/>
          </a:xfrm>
          <a:prstGeom prst="rect">
            <a:avLst/>
          </a:prstGeom>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Header and card: same as the KPI Card</a:t>
            </a:r>
            <a:endParaRPr lang="en-US" sz="3000" dirty="0"/>
          </a:p>
        </p:txBody>
      </p:sp>
      <p:sp>
        <p:nvSpPr>
          <p:cNvPr id="3" name="header bullets"/>
          <p:cNvSpPr txBox="1"/>
          <p:nvPr/>
        </p:nvSpPr>
        <p:spPr>
          <a:xfrm>
            <a:off x="457200" y="1188720"/>
            <a:ext cx="4937760" cy="173736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chemeClr val="tx1"/>
                </a:solidFill>
              </a:rPr>
              <a:t>Icon:  </a:t>
            </a:r>
            <a:r>
              <a:rPr lang="en-US" sz="1400" dirty="0">
                <a:solidFill>
                  <a:schemeClr val="tx2"/>
                </a:solidFill>
              </a:rPr>
              <a:t>built-in Figma icons, Tableau shapes or upload; size and colour.</a:t>
            </a:r>
            <a:endParaRPr lang="en-US" sz="1400" dirty="0"/>
          </a:p>
          <a:p>
            <a:pPr marL="177800" indent="-177800">
              <a:spcAft>
                <a:spcPts val="800"/>
              </a:spcAft>
              <a:buSzPct val="100000"/>
              <a:buChar char="•"/>
            </a:pPr>
            <a:r>
              <a:rPr lang="en-US" sz="1400" b="1" dirty="0">
                <a:solidFill>
                  <a:schemeClr val="tx1"/>
                </a:solidFill>
              </a:rPr>
              <a:t>Title &amp; text:  </a:t>
            </a:r>
            <a:r>
              <a:rPr lang="en-US" sz="1400" dirty="0">
                <a:solidFill>
                  <a:schemeClr val="tx2"/>
                </a:solidFill>
              </a:rPr>
              <a:t>an empty title shows "Start → End"; the explanation is optional.</a:t>
            </a:r>
            <a:endParaRPr lang="en-US" sz="1400" dirty="0"/>
          </a:p>
          <a:p>
            <a:pPr marL="177800" indent="-177800">
              <a:spcAft>
                <a:spcPts val="800"/>
              </a:spcAft>
              <a:buSzPct val="100000"/>
              <a:buChar char="•"/>
            </a:pPr>
            <a:r>
              <a:rPr lang="en-US" sz="1400" b="1" dirty="0">
                <a:solidFill>
                  <a:schemeClr val="tx1"/>
                </a:solidFill>
              </a:rPr>
              <a:t>Card:  </a:t>
            </a:r>
            <a:r>
              <a:rPr lang="en-US" sz="1400" dirty="0">
                <a:solidFill>
                  <a:schemeClr val="tx2"/>
                </a:solidFill>
              </a:rPr>
              <a:t>padding, space above the chart, dashed divider, background colour and opacity.</a:t>
            </a:r>
            <a:endParaRPr lang="en-US" sz="1400" dirty="0"/>
          </a:p>
        </p:txBody>
      </p:sp>
      <p:sp>
        <p:nvSpPr>
          <p:cNvPr id="4" name="transparency heading"/>
          <p:cNvSpPr txBox="1"/>
          <p:nvPr/>
        </p:nvSpPr>
        <p:spPr>
          <a:xfrm>
            <a:off x="457200" y="2880360"/>
            <a:ext cx="4937760" cy="320040"/>
          </a:xfrm>
          <a:prstGeom prst="rect">
            <a:avLst/>
          </a:prstGeom>
          <a:noFill/>
          <a:ln/>
        </p:spPr>
        <p:txBody>
          <a:bodyPr wrap="square" lIns="0" tIns="0" rIns="0" bIns="0" rtlCol="0" anchor="ctr"/>
          <a:lstStyle/>
          <a:p>
            <a:pPr marL="0" indent="0">
              <a:buNone/>
            </a:pPr>
            <a:r>
              <a:rPr lang="en-US" sz="1500" b="1" dirty="0">
                <a:solidFill>
                  <a:schemeClr val="tx1"/>
                </a:solidFill>
              </a:rPr>
              <a:t>To see the dashboard through the chart</a:t>
            </a:r>
            <a:endParaRPr lang="en-US" sz="1500" dirty="0"/>
          </a:p>
        </p:txBody>
      </p:sp>
      <p:sp>
        <p:nvSpPr>
          <p:cNvPr id="5" name="step 1"/>
          <p:cNvSpPr/>
          <p:nvPr/>
        </p:nvSpPr>
        <p:spPr>
          <a:xfrm>
            <a:off x="457200" y="3291840"/>
            <a:ext cx="256032" cy="256032"/>
          </a:xfrm>
          <a:prstGeom prst="ellipse">
            <a:avLst/>
          </a:prstGeom>
          <a:solidFill>
            <a:schemeClr val="accent1"/>
          </a:solidFill>
          <a:ln/>
        </p:spPr>
        <p:txBody>
          <a:bodyPr/>
          <a:lstStyle/>
          <a:p>
            <a:endParaRPr lang="en-US"/>
          </a:p>
        </p:txBody>
      </p:sp>
      <p:sp>
        <p:nvSpPr>
          <p:cNvPr id="6" name="step 1 label"/>
          <p:cNvSpPr txBox="1"/>
          <p:nvPr/>
        </p:nvSpPr>
        <p:spPr>
          <a:xfrm>
            <a:off x="457200" y="3291840"/>
            <a:ext cx="256032" cy="256032"/>
          </a:xfrm>
          <a:prstGeom prst="rect">
            <a:avLst/>
          </a:prstGeom>
          <a:noFill/>
          <a:ln/>
        </p:spPr>
        <p:txBody>
          <a:bodyPr wrap="square" lIns="0" tIns="0" rIns="0" bIns="0" rtlCol="0" anchor="ctr"/>
          <a:lstStyle/>
          <a:p>
            <a:pPr marL="0" indent="0" algn="ctr">
              <a:buNone/>
            </a:pPr>
            <a:r>
              <a:rPr lang="en-US" sz="1100" b="1" dirty="0">
                <a:solidFill>
                  <a:schemeClr val="bg1"/>
                </a:solidFill>
              </a:rPr>
              <a:t>1</a:t>
            </a:r>
            <a:endParaRPr lang="en-US" sz="1100" dirty="0"/>
          </a:p>
        </p:txBody>
      </p:sp>
      <p:sp>
        <p:nvSpPr>
          <p:cNvPr id="7" name="transparency step 1"/>
          <p:cNvSpPr txBox="1"/>
          <p:nvPr/>
        </p:nvSpPr>
        <p:spPr>
          <a:xfrm>
            <a:off x="822960" y="3291840"/>
            <a:ext cx="4572000" cy="256032"/>
          </a:xfrm>
          <a:prstGeom prst="rect">
            <a:avLst/>
          </a:prstGeom>
          <a:noFill/>
          <a:ln/>
        </p:spPr>
        <p:txBody>
          <a:bodyPr wrap="square" lIns="0" tIns="0" rIns="0" bIns="0" rtlCol="0" anchor="ctr"/>
          <a:lstStyle/>
          <a:p>
            <a:pPr marL="0" indent="0">
              <a:buNone/>
            </a:pPr>
            <a:r>
              <a:rPr lang="en-US" sz="1300" dirty="0">
                <a:solidFill>
                  <a:schemeClr val="tx2"/>
                </a:solidFill>
              </a:rPr>
              <a:t>Worksheet: Format → Shading → None</a:t>
            </a:r>
            <a:endParaRPr lang="en-US" sz="1300" dirty="0"/>
          </a:p>
        </p:txBody>
      </p:sp>
      <p:sp>
        <p:nvSpPr>
          <p:cNvPr id="8" name="step 2"/>
          <p:cNvSpPr/>
          <p:nvPr/>
        </p:nvSpPr>
        <p:spPr>
          <a:xfrm>
            <a:off x="457200" y="3675888"/>
            <a:ext cx="256032" cy="256032"/>
          </a:xfrm>
          <a:prstGeom prst="ellipse">
            <a:avLst/>
          </a:prstGeom>
          <a:solidFill>
            <a:schemeClr val="accent1"/>
          </a:solidFill>
          <a:ln/>
        </p:spPr>
        <p:txBody>
          <a:bodyPr/>
          <a:lstStyle/>
          <a:p>
            <a:endParaRPr lang="en-US"/>
          </a:p>
        </p:txBody>
      </p:sp>
      <p:sp>
        <p:nvSpPr>
          <p:cNvPr id="9" name="step 2 label"/>
          <p:cNvSpPr txBox="1"/>
          <p:nvPr/>
        </p:nvSpPr>
        <p:spPr>
          <a:xfrm>
            <a:off x="457200" y="3675888"/>
            <a:ext cx="256032" cy="256032"/>
          </a:xfrm>
          <a:prstGeom prst="rect">
            <a:avLst/>
          </a:prstGeom>
          <a:noFill/>
          <a:ln/>
        </p:spPr>
        <p:txBody>
          <a:bodyPr wrap="square" lIns="0" tIns="0" rIns="0" bIns="0" rtlCol="0" anchor="ctr"/>
          <a:lstStyle/>
          <a:p>
            <a:pPr marL="0" indent="0" algn="ctr">
              <a:buNone/>
            </a:pPr>
            <a:r>
              <a:rPr lang="en-US" sz="1100" b="1" dirty="0">
                <a:solidFill>
                  <a:schemeClr val="bg1"/>
                </a:solidFill>
              </a:rPr>
              <a:t>2</a:t>
            </a:r>
            <a:endParaRPr lang="en-US" sz="1100" dirty="0"/>
          </a:p>
        </p:txBody>
      </p:sp>
      <p:sp>
        <p:nvSpPr>
          <p:cNvPr id="10" name="transparency step 2"/>
          <p:cNvSpPr txBox="1"/>
          <p:nvPr/>
        </p:nvSpPr>
        <p:spPr>
          <a:xfrm>
            <a:off x="822960" y="3675888"/>
            <a:ext cx="4572000" cy="256032"/>
          </a:xfrm>
          <a:prstGeom prst="rect">
            <a:avLst/>
          </a:prstGeom>
          <a:noFill/>
          <a:ln/>
        </p:spPr>
        <p:txBody>
          <a:bodyPr wrap="square" lIns="0" tIns="0" rIns="0" bIns="0" rtlCol="0" anchor="ctr"/>
          <a:lstStyle/>
          <a:p>
            <a:pPr marL="0" indent="0">
              <a:buNone/>
            </a:pPr>
            <a:r>
              <a:rPr lang="en-US" sz="1300" dirty="0">
                <a:solidFill>
                  <a:schemeClr val="tx2"/>
                </a:solidFill>
              </a:rPr>
              <a:t>Dashboard object: Background → None</a:t>
            </a:r>
            <a:endParaRPr lang="en-US" sz="1300" dirty="0"/>
          </a:p>
        </p:txBody>
      </p:sp>
      <p:sp>
        <p:nvSpPr>
          <p:cNvPr id="11" name="step 3"/>
          <p:cNvSpPr/>
          <p:nvPr/>
        </p:nvSpPr>
        <p:spPr>
          <a:xfrm>
            <a:off x="457200" y="4059936"/>
            <a:ext cx="256032" cy="256032"/>
          </a:xfrm>
          <a:prstGeom prst="ellipse">
            <a:avLst/>
          </a:prstGeom>
          <a:solidFill>
            <a:schemeClr val="accent1"/>
          </a:solidFill>
          <a:ln/>
        </p:spPr>
        <p:txBody>
          <a:bodyPr/>
          <a:lstStyle/>
          <a:p>
            <a:endParaRPr lang="en-US"/>
          </a:p>
        </p:txBody>
      </p:sp>
      <p:sp>
        <p:nvSpPr>
          <p:cNvPr id="12" name="step 3 label"/>
          <p:cNvSpPr txBox="1"/>
          <p:nvPr/>
        </p:nvSpPr>
        <p:spPr>
          <a:xfrm>
            <a:off x="457200" y="4059936"/>
            <a:ext cx="256032" cy="256032"/>
          </a:xfrm>
          <a:prstGeom prst="rect">
            <a:avLst/>
          </a:prstGeom>
          <a:noFill/>
          <a:ln/>
        </p:spPr>
        <p:txBody>
          <a:bodyPr wrap="square" lIns="0" tIns="0" rIns="0" bIns="0" rtlCol="0" anchor="ctr"/>
          <a:lstStyle/>
          <a:p>
            <a:pPr marL="0" indent="0" algn="ctr">
              <a:buNone/>
            </a:pPr>
            <a:r>
              <a:rPr lang="en-US" sz="1100" b="1" dirty="0">
                <a:solidFill>
                  <a:schemeClr val="bg1"/>
                </a:solidFill>
              </a:rPr>
              <a:t>3</a:t>
            </a:r>
            <a:endParaRPr lang="en-US" sz="1100" dirty="0"/>
          </a:p>
        </p:txBody>
      </p:sp>
      <p:sp>
        <p:nvSpPr>
          <p:cNvPr id="13" name="transparency step 3"/>
          <p:cNvSpPr txBox="1"/>
          <p:nvPr/>
        </p:nvSpPr>
        <p:spPr>
          <a:xfrm>
            <a:off x="822960" y="4059936"/>
            <a:ext cx="4572000" cy="256032"/>
          </a:xfrm>
          <a:prstGeom prst="rect">
            <a:avLst/>
          </a:prstGeom>
          <a:noFill/>
          <a:ln/>
        </p:spPr>
        <p:txBody>
          <a:bodyPr wrap="square" lIns="0" tIns="0" rIns="0" bIns="0" rtlCol="0" anchor="ctr"/>
          <a:lstStyle/>
          <a:p>
            <a:pPr marL="0" indent="0">
              <a:buNone/>
            </a:pPr>
            <a:r>
              <a:rPr lang="en-US" sz="1300" dirty="0">
                <a:solidFill>
                  <a:schemeClr val="tx2"/>
                </a:solidFill>
              </a:rPr>
              <a:t>Container: Background → None</a:t>
            </a:r>
            <a:endParaRPr lang="en-US" sz="1300" dirty="0"/>
          </a:p>
        </p:txBody>
      </p:sp>
      <p:sp>
        <p:nvSpPr>
          <p:cNvPr id="14" name="Icon tab frame"/>
          <p:cNvSpPr/>
          <p:nvPr/>
        </p:nvSpPr>
        <p:spPr>
          <a:xfrm>
            <a:off x="5852160" y="1097280"/>
            <a:ext cx="2777595" cy="3520440"/>
          </a:xfrm>
          <a:prstGeom prst="rect">
            <a:avLst/>
          </a:prstGeom>
          <a:solidFill>
            <a:schemeClr val="bg1"/>
          </a:solidFill>
          <a:ln w="9525">
            <a:solidFill>
              <a:schemeClr val="accent5"/>
            </a:solidFill>
            <a:prstDash val="solid"/>
          </a:ln>
          <a:effectLst>
            <a:outerShdw blurRad="101600" dist="25400" dir="5400000" algn="bl" rotWithShape="0">
              <a:srgbClr val="000000">
                <a:alpha val="16000"/>
              </a:srgbClr>
            </a:outerShdw>
          </a:effectLst>
        </p:spPr>
        <p:txBody>
          <a:bodyPr/>
          <a:lstStyle/>
          <a:p>
            <a:endParaRPr lang="en-US"/>
          </a:p>
        </p:txBody>
      </p:sp>
      <p:pic>
        <p:nvPicPr>
          <p:cNvPr id="15" name="Icon tab" descr="Format dialog: Icon tab"/>
          <p:cNvPicPr>
            <a:picLocks noChangeAspect="1"/>
          </p:cNvPicPr>
          <p:nvPr/>
        </p:nvPicPr>
        <p:blipFill>
          <a:blip r:embed="rId3"/>
          <a:stretch>
            <a:fillRect/>
          </a:stretch>
        </p:blipFill>
        <p:spPr>
          <a:xfrm>
            <a:off x="5852160" y="1097280"/>
            <a:ext cx="2777595" cy="3520440"/>
          </a:xfrm>
          <a:prstGeom prst="rect">
            <a:avLst/>
          </a:prstGeom>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Hover a bar for details</a:t>
            </a:r>
            <a:endParaRPr lang="en-US" sz="3000" dirty="0"/>
          </a:p>
        </p:txBody>
      </p:sp>
      <p:sp>
        <p:nvSpPr>
          <p:cNvPr id="3" name="Tooltip example frame"/>
          <p:cNvSpPr/>
          <p:nvPr/>
        </p:nvSpPr>
        <p:spPr>
          <a:xfrm>
            <a:off x="448056" y="1225296"/>
            <a:ext cx="5047488" cy="2633472"/>
          </a:xfrm>
          <a:prstGeom prst="roundRect">
            <a:avLst>
              <a:gd name="adj" fmla="val 2778"/>
            </a:avLst>
          </a:prstGeom>
          <a:solidFill>
            <a:schemeClr val="bg1"/>
          </a:solidFill>
          <a:ln w="9525">
            <a:solidFill>
              <a:schemeClr val="accent5"/>
            </a:solidFill>
            <a:prstDash val="solid"/>
          </a:ln>
          <a:effectLst>
            <a:outerShdw blurRad="101600" dist="25400" dir="5400000" algn="bl" rotWithShape="0">
              <a:srgbClr val="000000">
                <a:alpha val="16000"/>
              </a:srgbClr>
            </a:outerShdw>
          </a:effectLst>
        </p:spPr>
        <p:txBody>
          <a:bodyPr/>
          <a:lstStyle/>
          <a:p>
            <a:endParaRPr lang="en-US"/>
          </a:p>
        </p:txBody>
      </p:sp>
      <p:pic>
        <p:nvPicPr>
          <p:cNvPr id="4" name="Tooltip example" descr="Waterfall example: Tooltip example"/>
          <p:cNvPicPr>
            <a:picLocks noChangeAspect="1"/>
          </p:cNvPicPr>
          <p:nvPr/>
        </p:nvPicPr>
        <p:blipFill>
          <a:blip r:embed="rId3"/>
          <a:stretch>
            <a:fillRect/>
          </a:stretch>
        </p:blipFill>
        <p:spPr>
          <a:xfrm>
            <a:off x="502920" y="1280160"/>
            <a:ext cx="4937760" cy="2523744"/>
          </a:xfrm>
          <a:prstGeom prst="rect">
            <a:avLst/>
          </a:prstGeom>
        </p:spPr>
      </p:pic>
      <p:sp>
        <p:nvSpPr>
          <p:cNvPr id="5" name="step 1"/>
          <p:cNvSpPr/>
          <p:nvPr/>
        </p:nvSpPr>
        <p:spPr>
          <a:xfrm>
            <a:off x="5806440" y="1307592"/>
            <a:ext cx="274320" cy="274320"/>
          </a:xfrm>
          <a:prstGeom prst="ellipse">
            <a:avLst/>
          </a:prstGeom>
          <a:solidFill>
            <a:schemeClr val="accent1"/>
          </a:solidFill>
          <a:ln/>
        </p:spPr>
        <p:txBody>
          <a:bodyPr/>
          <a:lstStyle/>
          <a:p>
            <a:endParaRPr lang="en-US"/>
          </a:p>
        </p:txBody>
      </p:sp>
      <p:sp>
        <p:nvSpPr>
          <p:cNvPr id="6" name="step 1 label"/>
          <p:cNvSpPr txBox="1"/>
          <p:nvPr/>
        </p:nvSpPr>
        <p:spPr>
          <a:xfrm>
            <a:off x="5806440" y="1307592"/>
            <a:ext cx="274320" cy="274320"/>
          </a:xfrm>
          <a:prstGeom prst="rect">
            <a:avLst/>
          </a:prstGeom>
          <a:noFill/>
          <a:ln/>
        </p:spPr>
        <p:txBody>
          <a:bodyPr wrap="square" lIns="0" tIns="0" rIns="0" bIns="0" rtlCol="0" anchor="ctr"/>
          <a:lstStyle/>
          <a:p>
            <a:pPr marL="0" indent="0" algn="ctr">
              <a:buNone/>
            </a:pPr>
            <a:r>
              <a:rPr lang="en-US" sz="1200" b="1" dirty="0">
                <a:solidFill>
                  <a:schemeClr val="bg1"/>
                </a:solidFill>
              </a:rPr>
              <a:t>1</a:t>
            </a:r>
            <a:endParaRPr lang="en-US" sz="1200" dirty="0"/>
          </a:p>
        </p:txBody>
      </p:sp>
      <p:sp>
        <p:nvSpPr>
          <p:cNvPr id="7" name="tooltip Bar name"/>
          <p:cNvSpPr txBox="1"/>
          <p:nvPr/>
        </p:nvSpPr>
        <p:spPr>
          <a:xfrm>
            <a:off x="6217920" y="1280160"/>
            <a:ext cx="2514600" cy="594360"/>
          </a:xfrm>
          <a:prstGeom prst="rect">
            <a:avLst/>
          </a:prstGeom>
          <a:noFill/>
          <a:ln/>
        </p:spPr>
        <p:txBody>
          <a:bodyPr wrap="square" lIns="0" tIns="0" rIns="0" bIns="0" rtlCol="0" anchor="t"/>
          <a:lstStyle/>
          <a:p>
            <a:pPr marL="0" indent="0">
              <a:buNone/>
            </a:pPr>
            <a:r>
              <a:rPr lang="en-US" sz="1400" b="1" dirty="0">
                <a:solidFill>
                  <a:schemeClr val="tx1"/>
                </a:solidFill>
              </a:rPr>
              <a:t>Bar name</a:t>
            </a:r>
            <a:endParaRPr lang="en-US" sz="1400" dirty="0"/>
          </a:p>
          <a:p>
            <a:pPr marL="0" indent="0">
              <a:buNone/>
            </a:pPr>
            <a:r>
              <a:rPr lang="en-US" sz="1200" dirty="0">
                <a:solidFill>
                  <a:schemeClr val="tx2"/>
                </a:solidFill>
              </a:rPr>
              <a:t>the measure’s label</a:t>
            </a:r>
            <a:endParaRPr lang="en-US" sz="1400" dirty="0"/>
          </a:p>
        </p:txBody>
      </p:sp>
      <p:sp>
        <p:nvSpPr>
          <p:cNvPr id="8" name="step 2"/>
          <p:cNvSpPr/>
          <p:nvPr/>
        </p:nvSpPr>
        <p:spPr>
          <a:xfrm>
            <a:off x="5806440" y="1965960"/>
            <a:ext cx="274320" cy="274320"/>
          </a:xfrm>
          <a:prstGeom prst="ellipse">
            <a:avLst/>
          </a:prstGeom>
          <a:solidFill>
            <a:schemeClr val="accent1"/>
          </a:solidFill>
          <a:ln/>
        </p:spPr>
        <p:txBody>
          <a:bodyPr/>
          <a:lstStyle/>
          <a:p>
            <a:endParaRPr lang="en-US"/>
          </a:p>
        </p:txBody>
      </p:sp>
      <p:sp>
        <p:nvSpPr>
          <p:cNvPr id="9" name="step 2 label"/>
          <p:cNvSpPr txBox="1"/>
          <p:nvPr/>
        </p:nvSpPr>
        <p:spPr>
          <a:xfrm>
            <a:off x="5806440" y="1965960"/>
            <a:ext cx="274320" cy="274320"/>
          </a:xfrm>
          <a:prstGeom prst="rect">
            <a:avLst/>
          </a:prstGeom>
          <a:noFill/>
          <a:ln/>
        </p:spPr>
        <p:txBody>
          <a:bodyPr wrap="square" lIns="0" tIns="0" rIns="0" bIns="0" rtlCol="0" anchor="ctr"/>
          <a:lstStyle/>
          <a:p>
            <a:pPr marL="0" indent="0" algn="ctr">
              <a:buNone/>
            </a:pPr>
            <a:r>
              <a:rPr lang="en-US" sz="1200" b="1" dirty="0">
                <a:solidFill>
                  <a:schemeClr val="bg1"/>
                </a:solidFill>
              </a:rPr>
              <a:t>2</a:t>
            </a:r>
            <a:endParaRPr lang="en-US" sz="1200" dirty="0"/>
          </a:p>
        </p:txBody>
      </p:sp>
      <p:sp>
        <p:nvSpPr>
          <p:cNvPr id="10" name="tooltip Change"/>
          <p:cNvSpPr txBox="1"/>
          <p:nvPr/>
        </p:nvSpPr>
        <p:spPr>
          <a:xfrm>
            <a:off x="6217920" y="1938528"/>
            <a:ext cx="2514600" cy="594360"/>
          </a:xfrm>
          <a:prstGeom prst="rect">
            <a:avLst/>
          </a:prstGeom>
          <a:noFill/>
          <a:ln/>
        </p:spPr>
        <p:txBody>
          <a:bodyPr wrap="square" lIns="0" tIns="0" rIns="0" bIns="0" rtlCol="0" anchor="t"/>
          <a:lstStyle/>
          <a:p>
            <a:pPr marL="0" indent="0">
              <a:buNone/>
            </a:pPr>
            <a:r>
              <a:rPr lang="en-US" sz="1400" b="1" dirty="0">
                <a:solidFill>
                  <a:schemeClr val="tx1"/>
                </a:solidFill>
              </a:rPr>
              <a:t>Change</a:t>
            </a:r>
            <a:endParaRPr lang="en-US" sz="1400" dirty="0"/>
          </a:p>
          <a:p>
            <a:pPr marL="0" indent="0">
              <a:buNone/>
            </a:pPr>
            <a:r>
              <a:rPr lang="en-US" sz="1200" dirty="0">
                <a:solidFill>
                  <a:schemeClr val="tx2"/>
                </a:solidFill>
              </a:rPr>
              <a:t>formatted like the bar’s total</a:t>
            </a:r>
            <a:endParaRPr lang="en-US" sz="1400" dirty="0"/>
          </a:p>
        </p:txBody>
      </p:sp>
      <p:sp>
        <p:nvSpPr>
          <p:cNvPr id="11" name="step 3"/>
          <p:cNvSpPr/>
          <p:nvPr/>
        </p:nvSpPr>
        <p:spPr>
          <a:xfrm>
            <a:off x="5806440" y="2624328"/>
            <a:ext cx="274320" cy="274320"/>
          </a:xfrm>
          <a:prstGeom prst="ellipse">
            <a:avLst/>
          </a:prstGeom>
          <a:solidFill>
            <a:schemeClr val="accent1"/>
          </a:solidFill>
          <a:ln/>
        </p:spPr>
        <p:txBody>
          <a:bodyPr/>
          <a:lstStyle/>
          <a:p>
            <a:endParaRPr lang="en-US"/>
          </a:p>
        </p:txBody>
      </p:sp>
      <p:sp>
        <p:nvSpPr>
          <p:cNvPr id="12" name="step 3 label"/>
          <p:cNvSpPr txBox="1"/>
          <p:nvPr/>
        </p:nvSpPr>
        <p:spPr>
          <a:xfrm>
            <a:off x="5806440" y="2624328"/>
            <a:ext cx="274320" cy="274320"/>
          </a:xfrm>
          <a:prstGeom prst="rect">
            <a:avLst/>
          </a:prstGeom>
          <a:noFill/>
          <a:ln/>
        </p:spPr>
        <p:txBody>
          <a:bodyPr wrap="square" lIns="0" tIns="0" rIns="0" bIns="0" rtlCol="0" anchor="ctr"/>
          <a:lstStyle/>
          <a:p>
            <a:pPr marL="0" indent="0" algn="ctr">
              <a:buNone/>
            </a:pPr>
            <a:r>
              <a:rPr lang="en-US" sz="1200" b="1" dirty="0">
                <a:solidFill>
                  <a:schemeClr val="bg1"/>
                </a:solidFill>
              </a:rPr>
              <a:t>3</a:t>
            </a:r>
            <a:endParaRPr lang="en-US" sz="1200" dirty="0"/>
          </a:p>
        </p:txBody>
      </p:sp>
      <p:sp>
        <p:nvSpPr>
          <p:cNvPr id="13" name="tooltip Running total"/>
          <p:cNvSpPr txBox="1"/>
          <p:nvPr/>
        </p:nvSpPr>
        <p:spPr>
          <a:xfrm>
            <a:off x="6217920" y="2596896"/>
            <a:ext cx="2514600" cy="594360"/>
          </a:xfrm>
          <a:prstGeom prst="rect">
            <a:avLst/>
          </a:prstGeom>
          <a:noFill/>
          <a:ln/>
        </p:spPr>
        <p:txBody>
          <a:bodyPr wrap="square" lIns="0" tIns="0" rIns="0" bIns="0" rtlCol="0" anchor="t"/>
          <a:lstStyle/>
          <a:p>
            <a:pPr marL="0" indent="0">
              <a:buNone/>
            </a:pPr>
            <a:r>
              <a:rPr lang="en-US" sz="1400" b="1" dirty="0">
                <a:solidFill>
                  <a:schemeClr val="tx1"/>
                </a:solidFill>
              </a:rPr>
              <a:t>Running total</a:t>
            </a:r>
            <a:endParaRPr lang="en-US" sz="1400" dirty="0"/>
          </a:p>
          <a:p>
            <a:pPr marL="0" indent="0">
              <a:buNone/>
            </a:pPr>
            <a:r>
              <a:rPr lang="en-US" sz="1200" dirty="0">
                <a:solidFill>
                  <a:schemeClr val="tx2"/>
                </a:solidFill>
              </a:rPr>
              <a:t>from → to, e.g. 1.3K → 1.5K</a:t>
            </a:r>
            <a:endParaRPr lang="en-US" sz="1400" dirty="0"/>
          </a:p>
        </p:txBody>
      </p:sp>
      <p:sp>
        <p:nvSpPr>
          <p:cNvPr id="14" name="step 4"/>
          <p:cNvSpPr/>
          <p:nvPr/>
        </p:nvSpPr>
        <p:spPr>
          <a:xfrm>
            <a:off x="5806440" y="3282696"/>
            <a:ext cx="274320" cy="274320"/>
          </a:xfrm>
          <a:prstGeom prst="ellipse">
            <a:avLst/>
          </a:prstGeom>
          <a:solidFill>
            <a:schemeClr val="accent1"/>
          </a:solidFill>
          <a:ln/>
        </p:spPr>
        <p:txBody>
          <a:bodyPr/>
          <a:lstStyle/>
          <a:p>
            <a:endParaRPr lang="en-US"/>
          </a:p>
        </p:txBody>
      </p:sp>
      <p:sp>
        <p:nvSpPr>
          <p:cNvPr id="15" name="step 4 label"/>
          <p:cNvSpPr txBox="1"/>
          <p:nvPr/>
        </p:nvSpPr>
        <p:spPr>
          <a:xfrm>
            <a:off x="5806440" y="3282696"/>
            <a:ext cx="274320" cy="274320"/>
          </a:xfrm>
          <a:prstGeom prst="rect">
            <a:avLst/>
          </a:prstGeom>
          <a:noFill/>
          <a:ln/>
        </p:spPr>
        <p:txBody>
          <a:bodyPr wrap="square" lIns="0" tIns="0" rIns="0" bIns="0" rtlCol="0" anchor="ctr"/>
          <a:lstStyle/>
          <a:p>
            <a:pPr marL="0" indent="0" algn="ctr">
              <a:buNone/>
            </a:pPr>
            <a:r>
              <a:rPr lang="en-US" sz="1200" b="1" dirty="0">
                <a:solidFill>
                  <a:schemeClr val="bg1"/>
                </a:solidFill>
              </a:rPr>
              <a:t>4</a:t>
            </a:r>
            <a:endParaRPr lang="en-US" sz="1200" dirty="0"/>
          </a:p>
        </p:txBody>
      </p:sp>
      <p:sp>
        <p:nvSpPr>
          <p:cNvPr id="16" name="tooltip End check"/>
          <p:cNvSpPr txBox="1"/>
          <p:nvPr/>
        </p:nvSpPr>
        <p:spPr>
          <a:xfrm>
            <a:off x="6217920" y="3255264"/>
            <a:ext cx="2514600" cy="594360"/>
          </a:xfrm>
          <a:prstGeom prst="rect">
            <a:avLst/>
          </a:prstGeom>
          <a:noFill/>
          <a:ln/>
        </p:spPr>
        <p:txBody>
          <a:bodyPr wrap="square" lIns="0" tIns="0" rIns="0" bIns="0" rtlCol="0" anchor="t"/>
          <a:lstStyle/>
          <a:p>
            <a:pPr marL="0" indent="0">
              <a:buNone/>
            </a:pPr>
            <a:r>
              <a:rPr lang="en-US" sz="1400" b="1" dirty="0">
                <a:solidFill>
                  <a:schemeClr val="tx1"/>
                </a:solidFill>
              </a:rPr>
              <a:t>End check</a:t>
            </a:r>
            <a:endParaRPr lang="en-US" sz="1400" dirty="0"/>
          </a:p>
          <a:p>
            <a:pPr marL="0" indent="0">
              <a:buNone/>
            </a:pPr>
            <a:r>
              <a:rPr lang="en-US" sz="1200" dirty="0">
                <a:solidFill>
                  <a:schemeClr val="tx2"/>
                </a:solidFill>
              </a:rPr>
              <a:t>the End tooltip shows any difference</a:t>
            </a:r>
            <a:endParaRPr lang="en-US" sz="1400" dirty="0"/>
          </a:p>
        </p:txBody>
      </p:sp>
      <p:sp>
        <p:nvSpPr>
          <p:cNvPr id="17" name="tooltip off note"/>
          <p:cNvSpPr txBox="1"/>
          <p:nvPr/>
        </p:nvSpPr>
        <p:spPr>
          <a:xfrm>
            <a:off x="5806440" y="3977640"/>
            <a:ext cx="2926080" cy="365760"/>
          </a:xfrm>
          <a:prstGeom prst="rect">
            <a:avLst/>
          </a:prstGeom>
          <a:noFill/>
          <a:ln/>
        </p:spPr>
        <p:txBody>
          <a:bodyPr wrap="square" lIns="0" tIns="0" rIns="0" bIns="0" rtlCol="0" anchor="ctr"/>
          <a:lstStyle/>
          <a:p>
            <a:pPr marL="0" indent="0">
              <a:buNone/>
            </a:pPr>
            <a:r>
              <a:rPr lang="en-US" sz="1200" i="1" dirty="0">
                <a:solidFill>
                  <a:schemeClr val="tx2"/>
                </a:solidFill>
              </a:rPr>
              <a:t>Turn it off in Bars → All bars → Tooltip.</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If the chart doesn’t look right</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3456432"/>
        </p:xfrm>
        <a:graphic>
          <a:graphicData uri="http://schemas.openxmlformats.org/drawingml/2006/table">
            <a:tbl>
              <a:tblPr/>
              <a:tblGrid>
                <a:gridCol w="36576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384048">
                <a:tc>
                  <a:txBody>
                    <a:bodyPr/>
                    <a:lstStyle/>
                    <a:p>
                      <a:pPr marL="0" indent="0">
                        <a:buNone/>
                      </a:pPr>
                      <a:r>
                        <a:rPr lang="en-US" sz="1200" b="1" dirty="0">
                          <a:solidFill>
                            <a:schemeClr val="bg1"/>
                          </a:solidFill>
                        </a:rPr>
                        <a:t>What you see</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What to do</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384048">
                <a:tc>
                  <a:txBody>
                    <a:bodyPr/>
                    <a:lstStyle/>
                    <a:p>
                      <a:pPr marL="0" indent="0">
                        <a:buNone/>
                      </a:pPr>
                      <a:r>
                        <a:rPr lang="en-US" sz="1200" dirty="0">
                          <a:solidFill>
                            <a:schemeClr val="tx1"/>
                          </a:solidFill>
                        </a:rPr>
                        <a:t>"Drag measures onto Start, Changes…"</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tcPr>
                </a:tc>
                <a:tc>
                  <a:txBody>
                    <a:bodyPr/>
                    <a:lstStyle/>
                    <a:p>
                      <a:pPr marL="0" indent="0">
                        <a:buNone/>
                      </a:pPr>
                      <a:r>
                        <a:rPr lang="en-US" sz="1200" dirty="0">
                          <a:solidFill>
                            <a:schemeClr val="tx2"/>
                          </a:solidFill>
                        </a:rPr>
                        <a:t>Add measures to the tiles.</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200" dirty="0">
                          <a:solidFill>
                            <a:schemeClr val="tx1"/>
                          </a:solidFill>
                        </a:rPr>
                        <a:t>Changes in the wrong order</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tcPr>
                </a:tc>
                <a:tc>
                  <a:txBody>
                    <a:bodyPr/>
                    <a:lstStyle/>
                    <a:p>
                      <a:pPr marL="0" indent="0">
                        <a:buNone/>
                      </a:pPr>
                      <a:r>
                        <a:rPr lang="en-US" sz="1200" dirty="0">
                          <a:solidFill>
                            <a:schemeClr val="tx2"/>
                          </a:solidFill>
                        </a:rPr>
                        <a:t>Drag the pills on the Changes tile into order.</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200" dirty="0">
                          <a:solidFill>
                            <a:schemeClr val="tx1"/>
                          </a:solidFill>
                        </a:rPr>
                        <a:t>Outflows going up</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tcPr>
                </a:tc>
                <a:tc>
                  <a:txBody>
                    <a:bodyPr/>
                    <a:lstStyle/>
                    <a:p>
                      <a:pPr marL="0" indent="0">
                        <a:buNone/>
                      </a:pPr>
                      <a:r>
                        <a:rPr lang="en-US" sz="1200" dirty="0">
                          <a:solidFill>
                            <a:schemeClr val="tx2"/>
                          </a:solidFill>
                        </a:rPr>
                        <a:t>Tick Invert sign for those bars.</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200" dirty="0">
                          <a:solidFill>
                            <a:schemeClr val="tx1"/>
                          </a:solidFill>
                        </a:rPr>
                        <a:t>End tooltip shows a difference</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tcPr>
                </a:tc>
                <a:tc>
                  <a:txBody>
                    <a:bodyPr/>
                    <a:lstStyle/>
                    <a:p>
                      <a:pPr marL="0" indent="0">
                        <a:buNone/>
                      </a:pPr>
                      <a:r>
                        <a:rPr lang="en-US" sz="1200" dirty="0">
                          <a:solidFill>
                            <a:schemeClr val="tx2"/>
                          </a:solidFill>
                        </a:rPr>
                        <a:t>Check filters, or leave End empty to calculate it.</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200" dirty="0">
                          <a:solidFill>
                            <a:schemeClr val="tx1"/>
                          </a:solidFill>
                        </a:rPr>
                        <a:t>Start and End cut short, with a marker</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tcPr>
                </a:tc>
                <a:tc>
                  <a:txBody>
                    <a:bodyPr/>
                    <a:lstStyle/>
                    <a:p>
                      <a:pPr marL="0" indent="0">
                        <a:buNone/>
                      </a:pPr>
                      <a:r>
                        <a:rPr lang="en-US" sz="1200" dirty="0">
                          <a:solidFill>
                            <a:schemeClr val="tx2"/>
                          </a:solidFill>
                        </a:rPr>
                        <a:t>Set Axes → Starts at → Zero for full bars.</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200" dirty="0">
                          <a:solidFill>
                            <a:schemeClr val="tx1"/>
                          </a:solidFill>
                        </a:rPr>
                        <a:t>A bar lost its formatting</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tcPr>
                </a:tc>
                <a:tc>
                  <a:txBody>
                    <a:bodyPr/>
                    <a:lstStyle/>
                    <a:p>
                      <a:pPr marL="0" indent="0">
                        <a:buNone/>
                      </a:pPr>
                      <a:r>
                        <a:rPr lang="en-US" sz="1200" dirty="0">
                          <a:solidFill>
                            <a:schemeClr val="tx2"/>
                          </a:solidFill>
                        </a:rPr>
                        <a:t>Its measure was renamed or swapped. Format it again.</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buNone/>
                      </a:pPr>
                      <a:r>
                        <a:rPr lang="en-US" sz="1200" dirty="0">
                          <a:solidFill>
                            <a:schemeClr val="tx1"/>
                          </a:solidFill>
                        </a:rPr>
                        <a:t>Blank chart or "Could not load…"</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tcPr>
                </a:tc>
                <a:tc>
                  <a:txBody>
                    <a:bodyPr/>
                    <a:lstStyle/>
                    <a:p>
                      <a:pPr marL="0" indent="0">
                        <a:buNone/>
                      </a:pPr>
                      <a:r>
                        <a:rPr lang="en-US" sz="1200" dirty="0">
                          <a:solidFill>
                            <a:schemeClr val="tx2"/>
                          </a:solidFill>
                        </a:rPr>
                        <a:t>Check the URL is reachable and on the safe list.</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tcPr>
                </a:tc>
                <a:extLst>
                  <a:ext uri="{0D108BD9-81ED-4DB2-BD59-A6C34878D82A}">
                    <a16:rowId xmlns:a16="http://schemas.microsoft.com/office/drawing/2014/main" val="10007"/>
                  </a:ext>
                </a:extLst>
              </a:tr>
              <a:tr h="384048">
                <a:tc>
                  <a:txBody>
                    <a:bodyPr/>
                    <a:lstStyle/>
                    <a:p>
                      <a:pPr marL="0" indent="0">
                        <a:buNone/>
                      </a:pPr>
                      <a:r>
                        <a:rPr lang="en-US" sz="1200" dirty="0">
                          <a:solidFill>
                            <a:schemeClr val="tx1"/>
                          </a:solidFill>
                        </a:rPr>
                        <a:t>New .trex changes don’t appear</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tcPr>
                </a:tc>
                <a:tc>
                  <a:txBody>
                    <a:bodyPr/>
                    <a:lstStyle/>
                    <a:p>
                      <a:pPr marL="0" indent="0">
                        <a:buNone/>
                      </a:pPr>
                      <a:r>
                        <a:rPr lang="en-US" sz="1200" dirty="0">
                          <a:solidFill>
                            <a:schemeClr val="tx2"/>
                          </a:solidFill>
                        </a:rPr>
                        <a:t>Remove the extension and add it again.</a:t>
                      </a:r>
                      <a:endParaRPr lang="en-US" sz="1200" dirty="0"/>
                    </a:p>
                  </a:txBody>
                  <a:tcPr marT="0" marB="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046720" cy="731520"/>
          </a:xfrm>
          <a:prstGeom prst="rect">
            <a:avLst/>
          </a:prstGeom>
          <a:noFill/>
          <a:ln/>
        </p:spPr>
        <p:txBody>
          <a:bodyPr wrap="square" lIns="0" tIns="0" rIns="0" bIns="0" rtlCol="0" anchor="ctr"/>
          <a:lstStyle/>
          <a:p>
            <a:pPr marL="0" indent="0" algn="l">
              <a:buNone/>
            </a:pPr>
            <a:r>
              <a:rPr lang="en-US" sz="3400" b="1" dirty="0">
                <a:solidFill>
                  <a:schemeClr val="bg1"/>
                </a:solidFill>
              </a:rPr>
              <a:t>Five-minute checklist</a:t>
            </a:r>
            <a:endParaRPr lang="en-US" sz="3400" dirty="0"/>
          </a:p>
        </p:txBody>
      </p:sp>
      <p:sp>
        <p:nvSpPr>
          <p:cNvPr id="3" name="step 1"/>
          <p:cNvSpPr/>
          <p:nvPr/>
        </p:nvSpPr>
        <p:spPr>
          <a:xfrm>
            <a:off x="548640" y="1508760"/>
            <a:ext cx="347472" cy="347472"/>
          </a:xfrm>
          <a:prstGeom prst="ellipse">
            <a:avLst/>
          </a:prstGeom>
          <a:solidFill>
            <a:schemeClr val="accent1"/>
          </a:solidFill>
          <a:ln/>
        </p:spPr>
        <p:txBody>
          <a:bodyPr/>
          <a:lstStyle/>
          <a:p>
            <a:endParaRPr lang="en-US"/>
          </a:p>
        </p:txBody>
      </p:sp>
      <p:sp>
        <p:nvSpPr>
          <p:cNvPr id="4" name="step 1 label"/>
          <p:cNvSpPr txBox="1"/>
          <p:nvPr/>
        </p:nvSpPr>
        <p:spPr>
          <a:xfrm>
            <a:off x="548640" y="1508760"/>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5" name="checklist 1"/>
          <p:cNvSpPr txBox="1"/>
          <p:nvPr/>
        </p:nvSpPr>
        <p:spPr>
          <a:xfrm>
            <a:off x="1051560" y="1508760"/>
            <a:ext cx="3931920" cy="347472"/>
          </a:xfrm>
          <a:prstGeom prst="rect">
            <a:avLst/>
          </a:prstGeom>
          <a:noFill/>
          <a:ln/>
        </p:spPr>
        <p:txBody>
          <a:bodyPr wrap="square" lIns="0" tIns="0" rIns="0" bIns="0" rtlCol="0" anchor="ctr"/>
          <a:lstStyle/>
          <a:p>
            <a:pPr marL="0" indent="0">
              <a:buNone/>
            </a:pPr>
            <a:r>
              <a:rPr lang="en-US" sz="1600" dirty="0">
                <a:solidFill>
                  <a:schemeClr val="bg1"/>
                </a:solidFill>
              </a:rPr>
              <a:t>Add Extension → waterfall.trex</a:t>
            </a:r>
            <a:endParaRPr lang="en-US" sz="1600" dirty="0"/>
          </a:p>
        </p:txBody>
      </p:sp>
      <p:sp>
        <p:nvSpPr>
          <p:cNvPr id="6" name="step 2"/>
          <p:cNvSpPr/>
          <p:nvPr/>
        </p:nvSpPr>
        <p:spPr>
          <a:xfrm>
            <a:off x="548640" y="2057400"/>
            <a:ext cx="347472" cy="347472"/>
          </a:xfrm>
          <a:prstGeom prst="ellipse">
            <a:avLst/>
          </a:prstGeom>
          <a:solidFill>
            <a:schemeClr val="accent1"/>
          </a:solidFill>
          <a:ln/>
        </p:spPr>
        <p:txBody>
          <a:bodyPr/>
          <a:lstStyle/>
          <a:p>
            <a:endParaRPr lang="en-US"/>
          </a:p>
        </p:txBody>
      </p:sp>
      <p:sp>
        <p:nvSpPr>
          <p:cNvPr id="7" name="step 2 label"/>
          <p:cNvSpPr txBox="1"/>
          <p:nvPr/>
        </p:nvSpPr>
        <p:spPr>
          <a:xfrm>
            <a:off x="548640" y="2057400"/>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8" name="checklist 2"/>
          <p:cNvSpPr txBox="1"/>
          <p:nvPr/>
        </p:nvSpPr>
        <p:spPr>
          <a:xfrm>
            <a:off x="1051560" y="2057400"/>
            <a:ext cx="3931920" cy="347472"/>
          </a:xfrm>
          <a:prstGeom prst="rect">
            <a:avLst/>
          </a:prstGeom>
          <a:noFill/>
          <a:ln/>
        </p:spPr>
        <p:txBody>
          <a:bodyPr wrap="square" lIns="0" tIns="0" rIns="0" bIns="0" rtlCol="0" anchor="ctr"/>
          <a:lstStyle/>
          <a:p>
            <a:pPr marL="0" indent="0">
              <a:buNone/>
            </a:pPr>
            <a:r>
              <a:rPr lang="en-US" sz="1600" dirty="0">
                <a:solidFill>
                  <a:schemeClr val="bg1"/>
                </a:solidFill>
              </a:rPr>
              <a:t>Drop Start, each change, and End</a:t>
            </a:r>
            <a:endParaRPr lang="en-US" sz="1600" dirty="0"/>
          </a:p>
        </p:txBody>
      </p:sp>
      <p:sp>
        <p:nvSpPr>
          <p:cNvPr id="9" name="step 3"/>
          <p:cNvSpPr/>
          <p:nvPr/>
        </p:nvSpPr>
        <p:spPr>
          <a:xfrm>
            <a:off x="548640" y="2606040"/>
            <a:ext cx="347472" cy="347472"/>
          </a:xfrm>
          <a:prstGeom prst="ellipse">
            <a:avLst/>
          </a:prstGeom>
          <a:solidFill>
            <a:schemeClr val="accent1"/>
          </a:solidFill>
          <a:ln/>
        </p:spPr>
        <p:txBody>
          <a:bodyPr/>
          <a:lstStyle/>
          <a:p>
            <a:endParaRPr lang="en-US"/>
          </a:p>
        </p:txBody>
      </p:sp>
      <p:sp>
        <p:nvSpPr>
          <p:cNvPr id="10" name="step 3 label"/>
          <p:cNvSpPr txBox="1"/>
          <p:nvPr/>
        </p:nvSpPr>
        <p:spPr>
          <a:xfrm>
            <a:off x="548640" y="2606040"/>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1" name="checklist 3"/>
          <p:cNvSpPr txBox="1"/>
          <p:nvPr/>
        </p:nvSpPr>
        <p:spPr>
          <a:xfrm>
            <a:off x="1051560" y="2606040"/>
            <a:ext cx="3931920" cy="347472"/>
          </a:xfrm>
          <a:prstGeom prst="rect">
            <a:avLst/>
          </a:prstGeom>
          <a:noFill/>
          <a:ln/>
        </p:spPr>
        <p:txBody>
          <a:bodyPr wrap="square" lIns="0" tIns="0" rIns="0" bIns="0" rtlCol="0" anchor="ctr"/>
          <a:lstStyle/>
          <a:p>
            <a:pPr marL="0" indent="0">
              <a:buNone/>
            </a:pPr>
            <a:r>
              <a:rPr lang="en-US" sz="1600" dirty="0">
                <a:solidFill>
                  <a:schemeClr val="bg1"/>
                </a:solidFill>
              </a:rPr>
              <a:t>Invert sign on outflows if needed</a:t>
            </a:r>
            <a:endParaRPr lang="en-US" sz="1600" dirty="0"/>
          </a:p>
        </p:txBody>
      </p:sp>
      <p:sp>
        <p:nvSpPr>
          <p:cNvPr id="12" name="step 4"/>
          <p:cNvSpPr/>
          <p:nvPr/>
        </p:nvSpPr>
        <p:spPr>
          <a:xfrm>
            <a:off x="548640" y="3154680"/>
            <a:ext cx="347472" cy="347472"/>
          </a:xfrm>
          <a:prstGeom prst="ellipse">
            <a:avLst/>
          </a:prstGeom>
          <a:solidFill>
            <a:schemeClr val="accent1"/>
          </a:solidFill>
          <a:ln/>
        </p:spPr>
        <p:txBody>
          <a:bodyPr/>
          <a:lstStyle/>
          <a:p>
            <a:endParaRPr lang="en-US"/>
          </a:p>
        </p:txBody>
      </p:sp>
      <p:sp>
        <p:nvSpPr>
          <p:cNvPr id="13" name="step 4 label"/>
          <p:cNvSpPr txBox="1"/>
          <p:nvPr/>
        </p:nvSpPr>
        <p:spPr>
          <a:xfrm>
            <a:off x="548640" y="3154680"/>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4" name="checklist 4"/>
          <p:cNvSpPr txBox="1"/>
          <p:nvPr/>
        </p:nvSpPr>
        <p:spPr>
          <a:xfrm>
            <a:off x="1051560" y="3154680"/>
            <a:ext cx="3931920" cy="347472"/>
          </a:xfrm>
          <a:prstGeom prst="rect">
            <a:avLst/>
          </a:prstGeom>
          <a:noFill/>
          <a:ln/>
        </p:spPr>
        <p:txBody>
          <a:bodyPr wrap="square" lIns="0" tIns="0" rIns="0" bIns="0" rtlCol="0" anchor="ctr"/>
          <a:lstStyle/>
          <a:p>
            <a:pPr marL="0" indent="0">
              <a:buNone/>
            </a:pPr>
            <a:r>
              <a:rPr lang="en-US" sz="1600" dirty="0">
                <a:solidFill>
                  <a:schemeClr val="bg1"/>
                </a:solidFill>
              </a:rPr>
              <a:t>Type the title; pick the number format</a:t>
            </a:r>
            <a:endParaRPr lang="en-US" sz="1600" dirty="0"/>
          </a:p>
        </p:txBody>
      </p:sp>
      <p:sp>
        <p:nvSpPr>
          <p:cNvPr id="15" name="step 5"/>
          <p:cNvSpPr/>
          <p:nvPr/>
        </p:nvSpPr>
        <p:spPr>
          <a:xfrm>
            <a:off x="548640" y="3703320"/>
            <a:ext cx="347472" cy="347472"/>
          </a:xfrm>
          <a:prstGeom prst="ellipse">
            <a:avLst/>
          </a:prstGeom>
          <a:solidFill>
            <a:schemeClr val="accent1"/>
          </a:solidFill>
          <a:ln/>
        </p:spPr>
        <p:txBody>
          <a:bodyPr/>
          <a:lstStyle/>
          <a:p>
            <a:endParaRPr lang="en-US"/>
          </a:p>
        </p:txBody>
      </p:sp>
      <p:sp>
        <p:nvSpPr>
          <p:cNvPr id="16" name="step 5 label"/>
          <p:cNvSpPr txBox="1"/>
          <p:nvPr/>
        </p:nvSpPr>
        <p:spPr>
          <a:xfrm>
            <a:off x="548640" y="3703320"/>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17" name="checklist 5"/>
          <p:cNvSpPr txBox="1"/>
          <p:nvPr/>
        </p:nvSpPr>
        <p:spPr>
          <a:xfrm>
            <a:off x="1051560" y="3703320"/>
            <a:ext cx="3931920" cy="347472"/>
          </a:xfrm>
          <a:prstGeom prst="rect">
            <a:avLst/>
          </a:prstGeom>
          <a:noFill/>
          <a:ln/>
        </p:spPr>
        <p:txBody>
          <a:bodyPr wrap="square" lIns="0" tIns="0" rIns="0" bIns="0" rtlCol="0" anchor="ctr"/>
          <a:lstStyle/>
          <a:p>
            <a:pPr marL="0" indent="0">
              <a:buNone/>
            </a:pPr>
            <a:r>
              <a:rPr lang="en-US" sz="1600" dirty="0">
                <a:solidFill>
                  <a:schemeClr val="bg1"/>
                </a:solidFill>
              </a:rPr>
              <a:t>Choose groups and the axis start</a:t>
            </a:r>
            <a:endParaRPr lang="en-US" sz="1600" dirty="0"/>
          </a:p>
        </p:txBody>
      </p:sp>
      <p:sp>
        <p:nvSpPr>
          <p:cNvPr id="18" name="Finished chart frame"/>
          <p:cNvSpPr/>
          <p:nvPr/>
        </p:nvSpPr>
        <p:spPr>
          <a:xfrm>
            <a:off x="5020056" y="1682496"/>
            <a:ext cx="3721608" cy="1955800"/>
          </a:xfrm>
          <a:prstGeom prst="roundRect">
            <a:avLst>
              <a:gd name="adj" fmla="val 3740"/>
            </a:avLst>
          </a:prstGeom>
          <a:solidFill>
            <a:schemeClr val="bg1"/>
          </a:solidFill>
          <a:ln w="9525">
            <a:solidFill>
              <a:schemeClr val="accent5"/>
            </a:solidFill>
            <a:prstDash val="solid"/>
          </a:ln>
          <a:effectLst>
            <a:outerShdw blurRad="101600" dist="25400" dir="5400000" algn="bl" rotWithShape="0">
              <a:srgbClr val="000000">
                <a:alpha val="16000"/>
              </a:srgbClr>
            </a:outerShdw>
          </a:effectLst>
        </p:spPr>
        <p:txBody>
          <a:bodyPr/>
          <a:lstStyle/>
          <a:p>
            <a:endParaRPr lang="en-US"/>
          </a:p>
        </p:txBody>
      </p:sp>
      <p:pic>
        <p:nvPicPr>
          <p:cNvPr id="19" name="Finished chart" descr="Waterfall example: Finished chart"/>
          <p:cNvPicPr>
            <a:picLocks noChangeAspect="1"/>
          </p:cNvPicPr>
          <p:nvPr/>
        </p:nvPicPr>
        <p:blipFill>
          <a:blip r:embed="rId3"/>
          <a:stretch>
            <a:fillRect/>
          </a:stretch>
        </p:blipFill>
        <p:spPr>
          <a:xfrm>
            <a:off x="5074920" y="1737360"/>
            <a:ext cx="3611880" cy="1846072"/>
          </a:xfrm>
          <a:prstGeom prst="rect">
            <a:avLst/>
          </a:prstGeom>
        </p:spPr>
      </p:pic>
      <p:sp>
        <p:nvSpPr>
          <p:cNvPr id="20" name="contact"/>
          <p:cNvSpPr txBox="1"/>
          <p:nvPr/>
        </p:nvSpPr>
        <p:spPr>
          <a:xfrm>
            <a:off x="548640" y="4434840"/>
            <a:ext cx="5486400" cy="274320"/>
          </a:xfrm>
          <a:prstGeom prst="rect">
            <a:avLst/>
          </a:prstGeom>
          <a:noFill/>
          <a:ln/>
        </p:spPr>
        <p:txBody>
          <a:bodyPr wrap="square" lIns="0" tIns="0" rIns="0" bIns="0" rtlCol="0" anchor="ctr"/>
          <a:lstStyle/>
          <a:p>
            <a:pPr marL="0" indent="0">
              <a:buNone/>
            </a:pPr>
            <a:r>
              <a:rPr lang="en-US" sz="1100" dirty="0">
                <a:solidFill>
                  <a:schemeClr val="accent5"/>
                </a:solidFill>
              </a:rPr>
              <a:t>Questions: ilyas coban  ·  linkedin.com/in/ilyascoban</a:t>
            </a:r>
            <a:endParaRPr lang="en-US" sz="1100" dirty="0"/>
          </a:p>
        </p:txBody>
      </p:sp>
    </p:spTree>
  </p:cSld>
  <p:clrMapOvr>
    <a:masterClrMapping/>
  </p:clrMapOvr>
</p:sld>
</file>

<file path=ppt/theme/theme1.xml><?xml version="1.0" encoding="utf-8"?>
<a:theme xmlns:a="http://schemas.openxmlformats.org/drawingml/2006/main" name="Waterfall">
  <a:themeElements>
    <a:clrScheme name="Waterfall">
      <a:dk1>
        <a:srgbClr val="263244"/>
      </a:dk1>
      <a:lt1>
        <a:srgbClr val="FFFFFF"/>
      </a:lt1>
      <a:dk2>
        <a:srgbClr val="68707D"/>
      </a:dk2>
      <a:lt2>
        <a:srgbClr val="F4F5F7"/>
      </a:lt2>
      <a:accent1>
        <a:srgbClr val="EB644C"/>
      </a:accent1>
      <a:accent2>
        <a:srgbClr val="0E7C66"/>
      </a:accent2>
      <a:accent3>
        <a:srgbClr val="B4431E"/>
      </a:accent3>
      <a:accent4>
        <a:srgbClr val="4E79A7"/>
      </a:accent4>
      <a:accent5>
        <a:srgbClr val="E2E4E8"/>
      </a:accent5>
      <a:accent6>
        <a:srgbClr val="ED8095"/>
      </a:accent6>
      <a:hlink>
        <a:srgbClr val="EB644C"/>
      </a:hlink>
      <a:folHlink>
        <a:srgbClr val="68707D"/>
      </a:folHlink>
    </a:clrScheme>
    <a:fontScheme name="Waterfal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1974</Words>
  <Application>Microsoft Macintosh PowerPoint</Application>
  <PresentationFormat>On-screen Show (16:9)</PresentationFormat>
  <Paragraphs>261</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Waterfall</vt:lpstr>
      <vt:lpstr>Waterfall for Tableau</vt:lpstr>
      <vt:lpstr>What the chart shows</vt:lpstr>
      <vt:lpstr>Before you start</vt:lpstr>
      <vt:lpstr>Add the extension to a worksheet</vt:lpstr>
      <vt:lpstr>Fill four tiles on the Marks card</vt:lpstr>
      <vt:lpstr>Getting the numbers right</vt:lpstr>
      <vt:lpstr>Three ways into the settings</vt:lpstr>
      <vt:lpstr>Bars: style one bar or all of them</vt:lpstr>
      <vt:lpstr>Breakdown: split change bars into segments</vt:lpstr>
      <vt:lpstr>Groups: summarise runs of changes</vt:lpstr>
      <vt:lpstr>Axes: where the bars start</vt:lpstr>
      <vt:lpstr>Numbers: one format or one per label</vt:lpstr>
      <vt:lpstr>Lines: gridlines, connectors and zero</vt:lpstr>
      <vt:lpstr>Header and card: same as the KPI Card</vt:lpstr>
      <vt:lpstr>Hover a bar for details</vt:lpstr>
      <vt:lpstr>If the chart doesn’t look right</vt:lpstr>
      <vt:lpstr>Five-minute checklist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Waterfall for Tableau — Builder guide</dc:title>
  <dc:subject>PptxGenJS Presentation</dc:subject>
  <dc:creator>ilyas coban</dc:creator>
  <cp:lastModifiedBy>Ilyas Coban</cp:lastModifiedBy>
  <cp:revision>3</cp:revision>
  <dcterms:created xsi:type="dcterms:W3CDTF">2026-10-07T08:12:31Z</dcterms:created>
  <dcterms:modified xsi:type="dcterms:W3CDTF">2026-10-07T08:32:09Z</dcterms:modified>
</cp:coreProperties>
</file>